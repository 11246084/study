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2"/>
  </p:sldMasterIdLst>
  <p:notesMasterIdLst>
    <p:notesMasterId r:id="rId48"/>
  </p:notesMasterIdLst>
  <p:handoutMasterIdLst>
    <p:handoutMasterId r:id="rId49"/>
  </p:handoutMasterIdLst>
  <p:sldIdLst>
    <p:sldId id="256" r:id="rId3"/>
    <p:sldId id="536" r:id="rId4"/>
    <p:sldId id="537" r:id="rId5"/>
    <p:sldId id="539" r:id="rId6"/>
    <p:sldId id="540" r:id="rId7"/>
    <p:sldId id="541" r:id="rId8"/>
    <p:sldId id="542" r:id="rId9"/>
    <p:sldId id="543" r:id="rId10"/>
    <p:sldId id="544" r:id="rId11"/>
    <p:sldId id="547" r:id="rId12"/>
    <p:sldId id="548" r:id="rId13"/>
    <p:sldId id="549" r:id="rId14"/>
    <p:sldId id="550" r:id="rId15"/>
    <p:sldId id="551" r:id="rId16"/>
    <p:sldId id="552" r:id="rId17"/>
    <p:sldId id="554" r:id="rId18"/>
    <p:sldId id="555" r:id="rId19"/>
    <p:sldId id="556" r:id="rId20"/>
    <p:sldId id="558" r:id="rId21"/>
    <p:sldId id="559" r:id="rId22"/>
    <p:sldId id="560" r:id="rId23"/>
    <p:sldId id="561" r:id="rId24"/>
    <p:sldId id="562" r:id="rId25"/>
    <p:sldId id="563" r:id="rId26"/>
    <p:sldId id="564" r:id="rId27"/>
    <p:sldId id="565" r:id="rId28"/>
    <p:sldId id="566" r:id="rId29"/>
    <p:sldId id="567" r:id="rId30"/>
    <p:sldId id="569" r:id="rId31"/>
    <p:sldId id="570" r:id="rId32"/>
    <p:sldId id="571" r:id="rId33"/>
    <p:sldId id="572" r:id="rId34"/>
    <p:sldId id="573" r:id="rId35"/>
    <p:sldId id="574" r:id="rId36"/>
    <p:sldId id="575" r:id="rId37"/>
    <p:sldId id="577" r:id="rId38"/>
    <p:sldId id="579" r:id="rId39"/>
    <p:sldId id="580" r:id="rId40"/>
    <p:sldId id="581" r:id="rId41"/>
    <p:sldId id="585" r:id="rId42"/>
    <p:sldId id="586" r:id="rId43"/>
    <p:sldId id="587" r:id="rId44"/>
    <p:sldId id="582" r:id="rId45"/>
    <p:sldId id="583" r:id="rId46"/>
    <p:sldId id="584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603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283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TW" sz="1200"/>
            </a:lvl1pPr>
          </a:lstStyle>
          <a:p>
            <a:fld id="{FD9D2DDA-69D8-473F-A583-B6774B31A77B}" type="datetimeFigureOut">
              <a:rPr lang="en-US" altLang="zh-TW"/>
              <a:t>10/23/2025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TW" sz="1200"/>
            </a:lvl1pPr>
          </a:lstStyle>
          <a:p>
            <a:fld id="{02392CCB-FF08-4D29-8DA3-E1FD86044808}" type="slidenum">
              <a:rPr lang="zh-TW"/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66215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latinLnBrk="0">
              <a:defRPr lang="zh-TW" sz="1200"/>
            </a:lvl1pPr>
          </a:lstStyle>
          <a:p>
            <a:fld id="{A01F6DFB-6833-46E4-B515-70E0D9178056}" type="datetimeFigureOut">
              <a:t>2025/10/23</a:t>
            </a:fld>
            <a:endParaRPr lang="zh-TW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latinLnBrk="0">
              <a:defRPr lang="zh-TW" sz="1200"/>
            </a:lvl1pPr>
          </a:lstStyle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latinLnBrk="0">
              <a:defRPr lang="zh-TW" sz="1200"/>
            </a:lvl1pPr>
          </a:lstStyle>
          <a:p>
            <a:fld id="{958706C7-F2C3-48B6-8A22-C484D800B5D4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599506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zh-TW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-1" y="1905000"/>
            <a:ext cx="12188826" cy="3200400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50000"/>
                </a:schemeClr>
              </a:gs>
              <a:gs pos="0">
                <a:schemeClr val="accent1">
                  <a:lumMod val="60000"/>
                  <a:lumOff val="4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/>
          </a:p>
        </p:txBody>
      </p:sp>
      <p:sp>
        <p:nvSpPr>
          <p:cNvPr id="10" name="矩形 9"/>
          <p:cNvSpPr/>
          <p:nvPr/>
        </p:nvSpPr>
        <p:spPr>
          <a:xfrm>
            <a:off x="-2" y="1795132"/>
            <a:ext cx="12188826" cy="73152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80000"/>
                </a:schemeClr>
              </a:gs>
              <a:gs pos="0">
                <a:schemeClr val="accent1">
                  <a:lumMod val="60000"/>
                  <a:lumOff val="40000"/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/>
          </a:p>
        </p:txBody>
      </p:sp>
      <p:sp>
        <p:nvSpPr>
          <p:cNvPr id="11" name="矩形 10"/>
          <p:cNvSpPr/>
          <p:nvPr/>
        </p:nvSpPr>
        <p:spPr>
          <a:xfrm>
            <a:off x="-2" y="5142116"/>
            <a:ext cx="12188826" cy="73152"/>
          </a:xfrm>
          <a:prstGeom prst="rect">
            <a:avLst/>
          </a:prstGeom>
          <a:gradFill flip="none" rotWithShape="1">
            <a:gsLst>
              <a:gs pos="100000">
                <a:schemeClr val="accent1">
                  <a:alpha val="80000"/>
                </a:schemeClr>
              </a:gs>
              <a:gs pos="0">
                <a:schemeClr val="accent1">
                  <a:lumMod val="60000"/>
                  <a:lumOff val="40000"/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95400" y="2079812"/>
            <a:ext cx="9601200" cy="1724092"/>
          </a:xfrm>
        </p:spPr>
        <p:txBody>
          <a:bodyPr anchor="b"/>
          <a:lstStyle>
            <a:lvl1pPr algn="ctr" latinLnBrk="0">
              <a:defRPr lang="zh-TW" sz="540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295400" y="3959352"/>
            <a:ext cx="9601200" cy="914400"/>
          </a:xfrm>
        </p:spPr>
        <p:txBody>
          <a:bodyPr>
            <a:normAutofit/>
          </a:bodyPr>
          <a:lstStyle>
            <a:lvl1pPr marL="0" indent="0" algn="ctr" latinLnBrk="0">
              <a:spcBef>
                <a:spcPts val="0"/>
              </a:spcBef>
              <a:buNone/>
              <a:defRPr lang="zh-TW" sz="2000"/>
            </a:lvl1pPr>
            <a:lvl2pPr marL="457200" indent="0" algn="ctr" latinLnBrk="0">
              <a:buNone/>
              <a:defRPr lang="zh-TW" sz="2800"/>
            </a:lvl2pPr>
            <a:lvl3pPr marL="914400" indent="0" algn="ctr" latinLnBrk="0">
              <a:buNone/>
              <a:defRPr lang="zh-TW" sz="2400"/>
            </a:lvl3pPr>
            <a:lvl4pPr marL="1371600" indent="0" algn="ctr" latinLnBrk="0">
              <a:buNone/>
              <a:defRPr lang="zh-TW" sz="2000"/>
            </a:lvl4pPr>
            <a:lvl5pPr marL="1828800" indent="0" algn="ctr" latinLnBrk="0">
              <a:buNone/>
              <a:defRPr lang="zh-TW" sz="2000"/>
            </a:lvl5pPr>
            <a:lvl6pPr marL="2286000" indent="0" algn="ctr" latinLnBrk="0">
              <a:buNone/>
              <a:defRPr lang="zh-TW" sz="2000"/>
            </a:lvl6pPr>
            <a:lvl7pPr marL="2743200" indent="0" algn="ctr" latinLnBrk="0">
              <a:buNone/>
              <a:defRPr lang="zh-TW" sz="2000"/>
            </a:lvl7pPr>
            <a:lvl8pPr marL="3200400" indent="0" algn="ctr" latinLnBrk="0">
              <a:buNone/>
              <a:defRPr lang="zh-TW" sz="2000"/>
            </a:lvl8pPr>
            <a:lvl9pPr marL="3657600" indent="0" algn="ctr" latinLnBrk="0">
              <a:buNone/>
              <a:defRPr lang="zh-TW" sz="2000"/>
            </a:lvl9pPr>
          </a:lstStyle>
          <a:p>
            <a:r>
              <a:rPr lang="zh-TW" altLang="en-US"/>
              <a:t>按一下以編輯母片副標題樣式</a:t>
            </a:r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985752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5pPr latinLnBrk="0">
              <a:defRPr lang="zh-TW"/>
            </a:lvl5pPr>
            <a:lvl6pPr latinLnBrk="0">
              <a:defRPr lang="zh-TW"/>
            </a:lvl6pPr>
            <a:lvl7pPr latinLnBrk="0">
              <a:defRPr lang="zh-TW"/>
            </a:lvl7pPr>
            <a:lvl8pPr latinLnBrk="0">
              <a:defRPr lang="zh-TW"/>
            </a:lvl8pPr>
            <a:lvl9pPr latinLnBrk="0">
              <a:defRPr lang="zh-TW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2025/10/23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217319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gradFill rotWithShape="1">
          <a:gsLst>
            <a:gs pos="100000">
              <a:schemeClr val="accent1">
                <a:alpha val="80000"/>
              </a:schemeClr>
            </a:gs>
            <a:gs pos="0">
              <a:schemeClr val="accent1">
                <a:lumMod val="40000"/>
                <a:lumOff val="60000"/>
                <a:alpha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95400" y="2130552"/>
            <a:ext cx="9601200" cy="2359152"/>
          </a:xfrm>
        </p:spPr>
        <p:txBody>
          <a:bodyPr anchor="b">
            <a:normAutofit/>
          </a:bodyPr>
          <a:lstStyle>
            <a:lvl1pPr algn="ctr" latinLnBrk="0">
              <a:defRPr lang="zh-TW" sz="5400" b="1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400" y="4572000"/>
            <a:ext cx="9601200" cy="841248"/>
          </a:xfrm>
        </p:spPr>
        <p:txBody>
          <a:bodyPr anchor="t"/>
          <a:lstStyle>
            <a:lvl1pPr marL="0" indent="0" algn="ctr" latinLnBrk="0">
              <a:spcBef>
                <a:spcPts val="0"/>
              </a:spcBef>
              <a:buNone/>
              <a:defRPr lang="zh-TW" sz="20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2025/10/23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162033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341120" y="1901952"/>
            <a:ext cx="4572000" cy="4123944"/>
          </a:xfrm>
        </p:spPr>
        <p:txBody>
          <a:bodyPr>
            <a:normAutofit/>
          </a:bodyPr>
          <a:lstStyle>
            <a:lvl1pPr latinLnBrk="0">
              <a:defRPr lang="zh-TW" sz="2000"/>
            </a:lvl1pPr>
            <a:lvl2pPr latinLnBrk="0">
              <a:defRPr lang="zh-TW" sz="1800"/>
            </a:lvl2pPr>
            <a:lvl3pPr latinLnBrk="0">
              <a:defRPr lang="zh-TW" sz="1600"/>
            </a:lvl3pPr>
            <a:lvl4pPr latinLnBrk="0">
              <a:defRPr lang="zh-TW" sz="1400"/>
            </a:lvl4pPr>
            <a:lvl5pPr latinLnBrk="0">
              <a:defRPr lang="zh-TW" sz="1400"/>
            </a:lvl5pPr>
            <a:lvl6pPr latinLnBrk="0">
              <a:defRPr lang="zh-TW" sz="1400"/>
            </a:lvl6pPr>
            <a:lvl7pPr latinLnBrk="0">
              <a:defRPr lang="zh-TW" sz="1400"/>
            </a:lvl7pPr>
            <a:lvl8pPr latinLnBrk="0">
              <a:defRPr lang="zh-TW" sz="1400"/>
            </a:lvl8pPr>
            <a:lvl9pPr latinLnBrk="0">
              <a:defRPr lang="zh-TW" sz="1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78880" y="1901952"/>
            <a:ext cx="4572000" cy="4123944"/>
          </a:xfrm>
        </p:spPr>
        <p:txBody>
          <a:bodyPr>
            <a:normAutofit/>
          </a:bodyPr>
          <a:lstStyle>
            <a:lvl1pPr latinLnBrk="0">
              <a:defRPr lang="zh-TW" sz="2000"/>
            </a:lvl1pPr>
            <a:lvl2pPr latinLnBrk="0">
              <a:defRPr lang="zh-TW" sz="1800"/>
            </a:lvl2pPr>
            <a:lvl3pPr latinLnBrk="0">
              <a:defRPr lang="zh-TW" sz="1600"/>
            </a:lvl3pPr>
            <a:lvl4pPr latinLnBrk="0">
              <a:defRPr lang="zh-TW" sz="1400"/>
            </a:lvl4pPr>
            <a:lvl5pPr latinLnBrk="0">
              <a:defRPr lang="zh-TW" sz="1400"/>
            </a:lvl5pPr>
            <a:lvl6pPr latinLnBrk="0">
              <a:defRPr lang="zh-TW" sz="1400"/>
            </a:lvl6pPr>
            <a:lvl7pPr latinLnBrk="0">
              <a:defRPr lang="zh-TW" sz="1400"/>
            </a:lvl7pPr>
            <a:lvl8pPr latinLnBrk="0">
              <a:defRPr lang="zh-TW" sz="1400"/>
            </a:lvl8pPr>
            <a:lvl9pPr latinLnBrk="0">
              <a:defRPr lang="zh-TW" sz="1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2025/10/23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676357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341120" y="1837464"/>
            <a:ext cx="4572000" cy="766588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TW" sz="2200" b="1">
                <a:solidFill>
                  <a:schemeClr val="tx1"/>
                </a:solidFill>
              </a:defRPr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1341120" y="2740732"/>
            <a:ext cx="4572000" cy="3288847"/>
          </a:xfrm>
        </p:spPr>
        <p:txBody>
          <a:bodyPr>
            <a:normAutofit/>
          </a:bodyPr>
          <a:lstStyle>
            <a:lvl1pPr latinLnBrk="0">
              <a:defRPr lang="zh-TW" sz="1800"/>
            </a:lvl1pPr>
            <a:lvl2pPr latinLnBrk="0">
              <a:defRPr lang="zh-TW" sz="1600"/>
            </a:lvl2pPr>
            <a:lvl3pPr latinLnBrk="0">
              <a:defRPr lang="zh-TW" sz="1400"/>
            </a:lvl3pPr>
            <a:lvl4pPr latinLnBrk="0">
              <a:defRPr lang="zh-TW" sz="1200"/>
            </a:lvl4pPr>
            <a:lvl5pPr latinLnBrk="0">
              <a:defRPr lang="zh-TW" sz="1200"/>
            </a:lvl5pPr>
            <a:lvl6pPr latinLnBrk="0">
              <a:defRPr lang="zh-TW" sz="1200"/>
            </a:lvl6pPr>
            <a:lvl7pPr latinLnBrk="0">
              <a:defRPr lang="zh-TW" sz="1200"/>
            </a:lvl7pPr>
            <a:lvl8pPr latinLnBrk="0">
              <a:defRPr lang="zh-TW" sz="1200"/>
            </a:lvl8pPr>
            <a:lvl9pPr latinLnBrk="0">
              <a:defRPr lang="zh-TW"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278880" y="1837464"/>
            <a:ext cx="4572000" cy="766588"/>
          </a:xfrm>
        </p:spPr>
        <p:txBody>
          <a:bodyPr anchor="ctr">
            <a:normAutofit/>
          </a:bodyPr>
          <a:lstStyle>
            <a:lvl1pPr marL="0" indent="0" latinLnBrk="0">
              <a:spcBef>
                <a:spcPts val="0"/>
              </a:spcBef>
              <a:buNone/>
              <a:defRPr lang="zh-TW" sz="2200" b="1">
                <a:solidFill>
                  <a:schemeClr val="tx1"/>
                </a:solidFill>
              </a:defRPr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278880" y="2740732"/>
            <a:ext cx="4572000" cy="3288847"/>
          </a:xfrm>
        </p:spPr>
        <p:txBody>
          <a:bodyPr>
            <a:normAutofit/>
          </a:bodyPr>
          <a:lstStyle>
            <a:lvl1pPr latinLnBrk="0">
              <a:defRPr lang="zh-TW" sz="1800"/>
            </a:lvl1pPr>
            <a:lvl2pPr latinLnBrk="0">
              <a:defRPr lang="zh-TW" sz="1600"/>
            </a:lvl2pPr>
            <a:lvl3pPr latinLnBrk="0">
              <a:defRPr lang="zh-TW" sz="1400"/>
            </a:lvl3pPr>
            <a:lvl4pPr latinLnBrk="0">
              <a:defRPr lang="zh-TW" sz="1200"/>
            </a:lvl4pPr>
            <a:lvl5pPr latinLnBrk="0">
              <a:defRPr lang="zh-TW" sz="1200"/>
            </a:lvl5pPr>
            <a:lvl6pPr latinLnBrk="0">
              <a:defRPr lang="zh-TW" sz="1200"/>
            </a:lvl6pPr>
            <a:lvl7pPr latinLnBrk="0">
              <a:defRPr lang="zh-TW" sz="1200"/>
            </a:lvl7pPr>
            <a:lvl8pPr latinLnBrk="0">
              <a:defRPr lang="zh-TW" sz="1200"/>
            </a:lvl8pPr>
            <a:lvl9pPr latinLnBrk="0">
              <a:defRPr lang="zh-TW" sz="12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TW"/>
              <a:t>
            </a:t>
            </a:r>
            <a:fld id="{0B277187-C200-495F-A386-621319EADA8F}" type="datetimeFigureOut">
              <a:t>2025/10/23</a:t>
            </a:fld>
            <a:r>
              <a:rPr lang="zh-TW"/>
              <a:t>
            </a:t>
            </a: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/>
              <a:t>
            </a:t>
            </a: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/>
              <a:t>
            </a:t>
            </a:r>
            <a:fld id="{FC749032-2A07-4AE8-BA90-74324CAE0C87}" type="slidenum">
              <a:t>‹#›</a:t>
            </a:fld>
            <a:r>
              <a:rPr lang="zh-TW"/>
              <a:t>
            </a:t>
            </a:r>
          </a:p>
        </p:txBody>
      </p:sp>
    </p:spTree>
    <p:extLst>
      <p:ext uri="{BB962C8B-B14F-4D97-AF65-F5344CB8AC3E}">
        <p14:creationId xmlns:p14="http://schemas.microsoft.com/office/powerpoint/2010/main" val="3254392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2025/10/23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412916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群組 4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6" name="矩形 5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  <p:sp>
          <p:nvSpPr>
            <p:cNvPr id="7" name="矩形 6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</p:grp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2025/10/23</a:t>
            </a:fld>
            <a:endParaRPr 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295436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矩形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  <p:sp>
          <p:nvSpPr>
            <p:cNvPr id="10" name="矩形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 latinLnBrk="0">
              <a:defRPr lang="zh-TW" sz="3400" b="1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758952"/>
            <a:ext cx="6629400" cy="5330952"/>
          </a:xfrm>
        </p:spPr>
        <p:txBody>
          <a:bodyPr>
            <a:normAutofit/>
          </a:bodyPr>
          <a:lstStyle>
            <a:lvl1pPr latinLnBrk="0">
              <a:defRPr lang="zh-TW" sz="2000"/>
            </a:lvl1pPr>
            <a:lvl2pPr latinLnBrk="0">
              <a:defRPr lang="zh-TW" sz="1800"/>
            </a:lvl2pPr>
            <a:lvl3pPr latinLnBrk="0">
              <a:defRPr lang="zh-TW" sz="1600"/>
            </a:lvl3pPr>
            <a:lvl4pPr latinLnBrk="0">
              <a:defRPr lang="zh-TW" sz="1400"/>
            </a:lvl4pPr>
            <a:lvl5pPr latinLnBrk="0">
              <a:defRPr lang="zh-TW" sz="1400"/>
            </a:lvl5pPr>
            <a:lvl6pPr latinLnBrk="0">
              <a:defRPr lang="zh-TW" sz="1400"/>
            </a:lvl6pPr>
            <a:lvl7pPr latinLnBrk="0">
              <a:defRPr lang="zh-TW" sz="1400"/>
            </a:lvl7pPr>
            <a:lvl8pPr latinLnBrk="0">
              <a:defRPr lang="zh-TW" sz="1400"/>
            </a:lvl8pPr>
            <a:lvl9pPr latinLnBrk="0">
              <a:defRPr lang="zh-TW" sz="14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 latinLnBrk="0">
              <a:spcBef>
                <a:spcPts val="1200"/>
              </a:spcBef>
              <a:buNone/>
              <a:defRPr lang="zh-TW" sz="1600"/>
            </a:lvl1pPr>
            <a:lvl2pPr marL="457200" indent="0" latinLnBrk="0">
              <a:buNone/>
              <a:defRPr lang="zh-TW" sz="1200"/>
            </a:lvl2pPr>
            <a:lvl3pPr marL="914400" indent="0" latinLnBrk="0">
              <a:buNone/>
              <a:defRPr lang="zh-TW" sz="1000"/>
            </a:lvl3pPr>
            <a:lvl4pPr marL="1371600" indent="0" latinLnBrk="0">
              <a:buNone/>
              <a:defRPr lang="zh-TW" sz="900"/>
            </a:lvl4pPr>
            <a:lvl5pPr marL="1828800" indent="0" latinLnBrk="0">
              <a:buNone/>
              <a:defRPr lang="zh-TW" sz="900"/>
            </a:lvl5pPr>
            <a:lvl6pPr marL="2286000" indent="0" latinLnBrk="0">
              <a:buNone/>
              <a:defRPr lang="zh-TW" sz="900"/>
            </a:lvl6pPr>
            <a:lvl7pPr marL="2743200" indent="0" latinLnBrk="0">
              <a:buNone/>
              <a:defRPr lang="zh-TW" sz="900"/>
            </a:lvl7pPr>
            <a:lvl8pPr marL="3200400" indent="0" latinLnBrk="0">
              <a:buNone/>
              <a:defRPr lang="zh-TW" sz="900"/>
            </a:lvl8pPr>
            <a:lvl9pPr marL="3657600" indent="0" latinLnBrk="0">
              <a:buNone/>
              <a:defRPr lang="zh-TW"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2025/10/23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53937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群組 7"/>
          <p:cNvGrpSpPr/>
          <p:nvPr/>
        </p:nvGrpSpPr>
        <p:grpSpPr>
          <a:xfrm flipV="1">
            <a:off x="1585" y="0"/>
            <a:ext cx="12188827" cy="377952"/>
            <a:chOff x="-1" y="6480048"/>
            <a:chExt cx="12188827" cy="377952"/>
          </a:xfrm>
        </p:grpSpPr>
        <p:sp>
          <p:nvSpPr>
            <p:cNvPr id="9" name="矩形 8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  <p:sp>
          <p:nvSpPr>
            <p:cNvPr id="10" name="矩形 9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470648" y="2350008"/>
            <a:ext cx="4206240" cy="1993392"/>
          </a:xfrm>
        </p:spPr>
        <p:txBody>
          <a:bodyPr anchor="b">
            <a:normAutofit/>
          </a:bodyPr>
          <a:lstStyle>
            <a:lvl1pPr latinLnBrk="0">
              <a:defRPr lang="zh-TW" sz="3400" b="1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50811" y="506104"/>
            <a:ext cx="6858002" cy="5843016"/>
          </a:xfrm>
          <a:solidFill>
            <a:schemeClr val="accent1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indent="0" algn="ctr" latinLnBrk="0">
              <a:buNone/>
              <a:defRPr lang="zh-TW" sz="2000"/>
            </a:lvl1pPr>
            <a:lvl2pPr marL="457200" indent="0" latinLnBrk="0">
              <a:buNone/>
              <a:defRPr lang="zh-TW" sz="2800"/>
            </a:lvl2pPr>
            <a:lvl3pPr marL="914400" indent="0" latinLnBrk="0">
              <a:buNone/>
              <a:defRPr lang="zh-TW" sz="2400"/>
            </a:lvl3pPr>
            <a:lvl4pPr marL="1371600" indent="0" latinLnBrk="0">
              <a:buNone/>
              <a:defRPr lang="zh-TW" sz="2000"/>
            </a:lvl4pPr>
            <a:lvl5pPr marL="1828800" indent="0" latinLnBrk="0">
              <a:buNone/>
              <a:defRPr lang="zh-TW" sz="2000"/>
            </a:lvl5pPr>
            <a:lvl6pPr marL="2286000" indent="0" latinLnBrk="0">
              <a:buNone/>
              <a:defRPr lang="zh-TW" sz="2000"/>
            </a:lvl6pPr>
            <a:lvl7pPr marL="2743200" indent="0" latinLnBrk="0">
              <a:buNone/>
              <a:defRPr lang="zh-TW" sz="2000"/>
            </a:lvl7pPr>
            <a:lvl8pPr marL="3200400" indent="0" latinLnBrk="0">
              <a:buNone/>
              <a:defRPr lang="zh-TW" sz="2000"/>
            </a:lvl8pPr>
            <a:lvl9pPr marL="3657600" indent="0" latinLnBrk="0">
              <a:buNone/>
              <a:defRPr lang="zh-TW" sz="2000"/>
            </a:lvl9pPr>
          </a:lstStyle>
          <a:p>
            <a:r>
              <a:rPr lang="zh-TW" altLang="en-US"/>
              <a:t>按一下圖示以新增圖片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7470648" y="4361688"/>
            <a:ext cx="4206240" cy="1728216"/>
          </a:xfrm>
        </p:spPr>
        <p:txBody>
          <a:bodyPr>
            <a:normAutofit/>
          </a:bodyPr>
          <a:lstStyle>
            <a:lvl1pPr marL="0" indent="0" latinLnBrk="0">
              <a:spcBef>
                <a:spcPts val="1200"/>
              </a:spcBef>
              <a:buNone/>
              <a:defRPr lang="zh-TW" sz="1600"/>
            </a:lvl1pPr>
            <a:lvl2pPr marL="457200" indent="0" latinLnBrk="0">
              <a:buNone/>
              <a:defRPr lang="zh-TW" sz="1200"/>
            </a:lvl2pPr>
            <a:lvl3pPr marL="914400" indent="0" latinLnBrk="0">
              <a:buNone/>
              <a:defRPr lang="zh-TW" sz="1000"/>
            </a:lvl3pPr>
            <a:lvl4pPr marL="1371600" indent="0" latinLnBrk="0">
              <a:buNone/>
              <a:defRPr lang="zh-TW" sz="900"/>
            </a:lvl4pPr>
            <a:lvl5pPr marL="1828800" indent="0" latinLnBrk="0">
              <a:buNone/>
              <a:defRPr lang="zh-TW" sz="900"/>
            </a:lvl5pPr>
            <a:lvl6pPr marL="2286000" indent="0" latinLnBrk="0">
              <a:buNone/>
              <a:defRPr lang="zh-TW" sz="900"/>
            </a:lvl6pPr>
            <a:lvl7pPr marL="2743200" indent="0" latinLnBrk="0">
              <a:buNone/>
              <a:defRPr lang="zh-TW" sz="900"/>
            </a:lvl7pPr>
            <a:lvl8pPr marL="3200400" indent="0" latinLnBrk="0">
              <a:buNone/>
              <a:defRPr lang="zh-TW" sz="900"/>
            </a:lvl8pPr>
            <a:lvl9pPr marL="3657600" indent="0" latinLnBrk="0">
              <a:buNone/>
              <a:defRPr lang="zh-TW"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2025/10/23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101986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垂直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 latinLnBrk="0">
              <a:defRPr lang="zh-TW"/>
            </a:lvl5pPr>
            <a:lvl6pPr latinLnBrk="0">
              <a:defRPr lang="zh-TW"/>
            </a:lvl6pPr>
            <a:lvl7pPr latinLnBrk="0">
              <a:defRPr lang="zh-TW"/>
            </a:lvl7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2025/10/23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735931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89756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89756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277187-C200-495F-A386-621319EADA8F}" type="datetimeFigureOut">
              <a:t>2025/10/23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49032-2A07-4AE8-BA90-74324CAE0C87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230509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  <a:alpha val="59000"/>
              </a:schemeClr>
            </a:gs>
            <a:gs pos="40000">
              <a:schemeClr val="accent1">
                <a:lumMod val="20000"/>
                <a:lumOff val="80000"/>
                <a:alpha val="66000"/>
              </a:schemeClr>
            </a:gs>
            <a:gs pos="100000">
              <a:schemeClr val="accent1">
                <a:lumMod val="40000"/>
                <a:lumOff val="6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/>
          <p:cNvGrpSpPr/>
          <p:nvPr/>
        </p:nvGrpSpPr>
        <p:grpSpPr>
          <a:xfrm>
            <a:off x="-1" y="6480048"/>
            <a:ext cx="12188827" cy="377952"/>
            <a:chOff x="-1" y="6480048"/>
            <a:chExt cx="12188827" cy="377952"/>
          </a:xfrm>
        </p:grpSpPr>
        <p:sp>
          <p:nvSpPr>
            <p:cNvPr id="7" name="矩形 6"/>
            <p:cNvSpPr/>
            <p:nvPr/>
          </p:nvSpPr>
          <p:spPr>
            <a:xfrm>
              <a:off x="0" y="6583680"/>
              <a:ext cx="12188826" cy="274320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50000"/>
                  </a:schemeClr>
                </a:gs>
                <a:gs pos="0">
                  <a:schemeClr val="accent1">
                    <a:lumMod val="60000"/>
                    <a:lumOff val="4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6480048"/>
              <a:ext cx="12188826" cy="73152"/>
            </a:xfrm>
            <a:prstGeom prst="rect">
              <a:avLst/>
            </a:prstGeom>
            <a:gradFill flip="none" rotWithShape="1">
              <a:gsLst>
                <a:gs pos="100000">
                  <a:schemeClr val="accent1">
                    <a:alpha val="80000"/>
                  </a:schemeClr>
                </a:gs>
                <a:gs pos="0">
                  <a:schemeClr val="accent1">
                    <a:lumMod val="60000"/>
                    <a:lumOff val="40000"/>
                    <a:alpha val="8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TW"/>
            </a:p>
          </p:txBody>
        </p:sp>
      </p:grp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341120" y="467360"/>
            <a:ext cx="9509760" cy="12334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341120" y="1901952"/>
            <a:ext cx="9509760" cy="4127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tx1"/>
                </a:solidFill>
              </a:defRPr>
            </a:lvl1pPr>
          </a:lstStyle>
          <a:p>
            <a:fld id="{0B277187-C200-495F-A386-621319EADA8F}" type="datetimeFigureOut">
              <a:pPr/>
              <a:t>2025/10/23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TW" sz="900">
                <a:solidFill>
                  <a:schemeClr val="tx1"/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tx1"/>
                </a:solidFill>
              </a:defRPr>
            </a:lvl1pPr>
          </a:lstStyle>
          <a:p>
            <a:fld id="{FC749032-2A07-4AE8-BA90-74324CAE0C87}" type="slidenum">
              <a:pPr/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870023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TW"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▪"/>
        <a:defRPr lang="zh-TW" sz="20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594360" indent="-228600" algn="l" defTabSz="914400" rtl="0" eaLnBrk="1" latinLnBrk="0" hangingPunct="1">
        <a:lnSpc>
          <a:spcPct val="90000"/>
        </a:lnSpc>
        <a:spcBef>
          <a:spcPts val="1000"/>
        </a:spcBef>
        <a:buSzPct val="100000"/>
        <a:buFont typeface="Arial" pitchFamily="34" charset="0"/>
        <a:buChar char="▪"/>
        <a:defRPr lang="zh-TW" sz="18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6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12344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187452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1460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8346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▪"/>
        <a:defRPr lang="zh-TW"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t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t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t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t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t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t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t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tif"/><Relationship Id="rId2" Type="http://schemas.openxmlformats.org/officeDocument/2006/relationships/image" Target="../media/image29.t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tif"/><Relationship Id="rId2" Type="http://schemas.openxmlformats.org/officeDocument/2006/relationships/image" Target="../media/image32.t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ti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t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t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t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t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ti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ti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ti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ti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t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zh-TW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迴圈設計</a:t>
            </a:r>
            <a:endParaRPr lang="zh-TW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7" name="副標題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國立臺北商業大學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資訊管理系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張隆君</a:t>
            </a:r>
            <a:endParaRPr 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9801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1C6C81-AEA7-C540-9AC4-3A2D76B73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7-1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：基本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迴圈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09F0D7-4786-A446-B6F6-199F583438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for </a:t>
            </a:r>
            <a:r>
              <a:rPr lang="en-US" altLang="zh-TW" sz="2800" kern="100" dirty="0" err="1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var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in </a:t>
            </a:r>
            <a:r>
              <a:rPr lang="zh-TW" altLang="zh-TW" sz="2800" b="1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可迭代物件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	 #</a:t>
            </a:r>
            <a:r>
              <a:rPr lang="zh-TW" altLang="zh-TW" sz="2800" b="1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可迭代物件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英文是</a:t>
            </a:r>
            <a:r>
              <a:rPr lang="en-US" altLang="zh-TW" sz="2800" kern="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iterable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object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</a:t>
            </a:r>
            <a:r>
              <a:rPr lang="zh-Hant" altLang="en-US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程式碼區塊</a:t>
            </a: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可迭代物件</a:t>
            </a:r>
            <a:r>
              <a:rPr lang="en-US" altLang="zh-TW" sz="2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en-US" altLang="zh-TW" sz="2800" dirty="0" err="1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iterable</a:t>
            </a:r>
            <a:r>
              <a:rPr lang="en-US" altLang="zh-TW" sz="2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object)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可以是</a:t>
            </a:r>
            <a:r>
              <a:rPr lang="zh-TW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串列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zh-TW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元組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、</a:t>
            </a:r>
            <a:r>
              <a:rPr lang="zh-TW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字典</a:t>
            </a:r>
            <a:r>
              <a:rPr lang="zh-TW" altLang="zh-TW" sz="2800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與</a:t>
            </a:r>
            <a:r>
              <a:rPr lang="zh-TW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集合或</a:t>
            </a:r>
            <a:r>
              <a:rPr lang="en-US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range( )</a:t>
            </a:r>
            <a:r>
              <a:rPr lang="zh-TW" altLang="zh-TW" sz="28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546251E-AF33-E59D-4340-69C764AB5C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8214" y="2363065"/>
            <a:ext cx="4620088" cy="24551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0031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C1940A-EAF2-6D4D-A445-1B473A39A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7-1-1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迴圈基本運作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CC599A-EAFD-8C40-A0D2-32125ED858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ch7_1.py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：列出球員名稱。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42842F1-AF00-5845-0A58-D997C8039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9395" y="3947745"/>
            <a:ext cx="1915705" cy="265251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860" y="2625159"/>
            <a:ext cx="7668025" cy="120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813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5FE00D-1262-CC40-B1F5-6EA934971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7-1-2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：如果程式碼區塊只有一</a:t>
            </a:r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列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859BAE-049C-AA4F-9206-9E179C98B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for </a:t>
            </a:r>
            <a:r>
              <a:rPr lang="en-US" altLang="zh-TW" sz="2800" kern="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var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in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可迭代物件：程式碼區塊</a:t>
            </a:r>
          </a:p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ch7_2.py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：重新設計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ch7_1.py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451" y="3537079"/>
            <a:ext cx="8025224" cy="122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73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423577-0A15-C946-B48B-43FC52580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7-1-3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：有多列的程式碼區塊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307AEF-04E7-814B-BF4E-18E2600E0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 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var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in 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可迭代物件：</a:t>
            </a:r>
          </a:p>
          <a:p>
            <a:pPr marL="0" indent="0">
              <a:buNone/>
            </a:pP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程式碼</a:t>
            </a:r>
          </a:p>
          <a:p>
            <a:pPr marL="0" indent="0">
              <a:buNone/>
            </a:pP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……</a:t>
            </a: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ch7_3.py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：這個程式在設計時，首先筆者將串列的元素英文名字全部改成小寫，然後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for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迴圈的程式碼區塊是有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行，這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行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第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4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和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行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皆需內縮處理，</a:t>
            </a:r>
            <a:r>
              <a:rPr lang="en-US" altLang="zh-TW" sz="2800" kern="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player.title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 )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title( )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方法可以處理第一個字母以大寫顯示。</a:t>
            </a: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70858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D145154D-1257-920D-F2F9-737F645B3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894" y="2731121"/>
            <a:ext cx="7519240" cy="3676073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894" y="716485"/>
            <a:ext cx="7519240" cy="182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190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2C81FF-957C-1148-8146-02D60E5EA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7-1-4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：將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迴圈應用在串列區間元素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7560CA-A2D1-2549-BA33-411902EC0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ch7_4.py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：列出串列前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位和後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位的球員名稱。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486414E-C8AE-3712-5662-58A14CD5F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5341" y="2790886"/>
            <a:ext cx="2667000" cy="36195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014" y="2790886"/>
            <a:ext cx="6560433" cy="219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256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DCDAC7-895E-2F41-A44E-C63279320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7-1-5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：將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迴圈應用在資料類別的判斷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333F66-407F-1448-B7AC-69209EE23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Aft>
                <a:spcPts val="0"/>
              </a:spcAft>
            </a:pPr>
            <a:r>
              <a:rPr lang="zh-TW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程式實例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ch7_5.ipynb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：有一個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files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串列內含一系列檔案名稱，請將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”.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ipynb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”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的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Python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程式檔案另外建立到</a:t>
            </a:r>
            <a:r>
              <a:rPr lang="en-US" altLang="zh-TW" kern="100" dirty="0" err="1">
                <a:latin typeface="Calibri" panose="020F0502020204030204" pitchFamily="34" charset="0"/>
                <a:cs typeface="Times New Roman" panose="02020603050405020304" pitchFamily="18" charset="0"/>
              </a:rPr>
              <a:t>py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串列，然後列印。</a:t>
            </a:r>
          </a:p>
          <a:p>
            <a:endParaRPr kumimoji="1" lang="en-US" altLang="zh-TW" dirty="0"/>
          </a:p>
          <a:p>
            <a:pPr algn="just">
              <a:spcAft>
                <a:spcPts val="0"/>
              </a:spcAft>
            </a:pPr>
            <a:endParaRPr lang="zh-TW" altLang="zh-TW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3B75919-303E-E6DE-F856-FBAE67308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5926" y="3429000"/>
            <a:ext cx="6245387" cy="112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568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A97E57-1406-264E-A23D-9C0545684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7-2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range( )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函數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A57D58-6EF4-2944-A1A0-B392CA948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Python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可以使用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range( )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函數產生一個</a:t>
            </a:r>
            <a:r>
              <a:rPr lang="zh-TW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等差級序列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，我們又稱這</a:t>
            </a:r>
            <a:r>
              <a:rPr lang="zh-TW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等差級序列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為</a:t>
            </a:r>
            <a:r>
              <a:rPr lang="zh-TW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可迭代物件</a:t>
            </a:r>
            <a:r>
              <a:rPr lang="en-US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en-US" altLang="zh-TW" sz="2800" dirty="0" err="1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iterable</a:t>
            </a:r>
            <a:r>
              <a:rPr lang="en-US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object)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，也可以稱是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range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物件。</a:t>
            </a:r>
            <a:r>
              <a:rPr lang="zh-TW" altLang="zh-TW" sz="28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8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range(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start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, stop, </a:t>
            </a:r>
            <a:r>
              <a:rPr lang="en-US" altLang="zh-TW" sz="2800" kern="100" dirty="0">
                <a:solidFill>
                  <a:srgbClr val="00B05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step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內容版面配置區 5">
            <a:extLst>
              <a:ext uri="{FF2B5EF4-FFF2-40B4-BE49-F238E27FC236}">
                <a16:creationId xmlns:a16="http://schemas.microsoft.com/office/drawing/2014/main" id="{073E90F9-59CB-094F-A3CD-BB3AB4AF12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129"/>
          <a:stretch/>
        </p:blipFill>
        <p:spPr>
          <a:xfrm>
            <a:off x="436563" y="4111579"/>
            <a:ext cx="3440845" cy="2119168"/>
          </a:xfrm>
          <a:prstGeom prst="rect">
            <a:avLst/>
          </a:prstGeom>
        </p:spPr>
      </p:pic>
      <p:pic>
        <p:nvPicPr>
          <p:cNvPr id="5" name="內容版面配置區 3" descr="../../../Desktop/螢幕快照%202018-10-18%20下午5.25.38.pn">
            <a:extLst>
              <a:ext uri="{FF2B5EF4-FFF2-40B4-BE49-F238E27FC236}">
                <a16:creationId xmlns:a16="http://schemas.microsoft.com/office/drawing/2014/main" id="{5EABA83F-5FAF-B542-9648-DDB704296D1B}"/>
              </a:ext>
            </a:extLst>
          </p:cNvPr>
          <p:cNvPicPr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253" b="-337"/>
          <a:stretch/>
        </p:blipFill>
        <p:spPr bwMode="auto">
          <a:xfrm>
            <a:off x="7816850" y="4111579"/>
            <a:ext cx="3938587" cy="2136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073E90F9-59CB-094F-A3CD-BB3AB4AF127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45"/>
          <a:stretch/>
        </p:blipFill>
        <p:spPr>
          <a:xfrm>
            <a:off x="3927597" y="4128937"/>
            <a:ext cx="3757368" cy="2119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752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5845A9-0734-AC44-A57F-BA4428C17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7-2-1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：只有一個參數的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range( )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函數的應用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689F25-FCE6-8449-97B8-ECD316E02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range(n)		# 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它將產生</a:t>
            </a:r>
            <a:r>
              <a:rPr lang="en-US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0, 1, … , n-1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</a:t>
            </a:r>
            <a:r>
              <a:rPr lang="zh-TW" altLang="zh-TW" sz="28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可迭代物件內容</a:t>
            </a:r>
            <a:r>
              <a:rPr lang="zh-TW" altLang="zh-TW" sz="28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8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ch7_6.py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：輸入數字，本程式會將此數字當作列印星星的數量。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E742FA2-00EF-E722-6399-65C628C17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2268" y="5329297"/>
            <a:ext cx="8204776" cy="1025597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6542" y="3418001"/>
            <a:ext cx="7116227" cy="158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81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2FB989-DF79-5B41-D60D-AB2DA3D448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77982"/>
            <a:ext cx="10515600" cy="5698981"/>
          </a:xfrm>
        </p:spPr>
        <p:txBody>
          <a:bodyPr/>
          <a:lstStyle/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ch7_7.py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：參考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ch2_5.py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的利率與本金，以及年份，本程式會列出每年本金和的軌跡。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ED16BC4-6FCA-F196-EB4E-E718165A00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446" y="3976800"/>
            <a:ext cx="4179170" cy="2411059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2178" y="1597386"/>
            <a:ext cx="6061706" cy="216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733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FD2715-6DFD-414A-A697-77A2D2977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7-2-2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：有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個參數的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range( )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函數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2C7605-FA18-0C4C-918D-B36202DC9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04800">
              <a:spcAft>
                <a:spcPts val="0"/>
              </a:spcAft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range(start, end)     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# start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是起始值，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end-1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是終止值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ch7_8.py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：輸入正整數值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，這個程式會計算從</a:t>
            </a:r>
            <a:r>
              <a:rPr lang="en-US" altLang="zh-Hant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加到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之值。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 descr="../../../Desktop/螢幕快照%202018-10-18%20下午9.38.55.pn">
            <a:extLst>
              <a:ext uri="{FF2B5EF4-FFF2-40B4-BE49-F238E27FC236}">
                <a16:creationId xmlns:a16="http://schemas.microsoft.com/office/drawing/2014/main" id="{F2C1E170-4DCA-0944-8CEB-65DC38D8D2C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852" y="2562311"/>
            <a:ext cx="3429953" cy="2188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圖片 3" descr="../../../Desktop/螢幕快照%202018-10-18%20下午9.07.37.pn">
            <a:extLst>
              <a:ext uri="{FF2B5EF4-FFF2-40B4-BE49-F238E27FC236}">
                <a16:creationId xmlns:a16="http://schemas.microsoft.com/office/drawing/2014/main" id="{5A2DF74C-5631-50A1-30E8-E248FAF370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193" y="2562311"/>
            <a:ext cx="3834941" cy="17333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7565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8477D6-DCB8-9348-937A-B4B9590C4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7-2-3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：有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個參數的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range( )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函數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EC18E3-774A-F84C-B47C-E35E6FEDF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4800">
              <a:spcAft>
                <a:spcPts val="0"/>
              </a:spcAft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range(start, end, step)	#  start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起始值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end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終止值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step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是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間隔值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 descr="../../../Desktop/螢幕快照%202018-10-18%20下午9.45.27.pn">
            <a:extLst>
              <a:ext uri="{FF2B5EF4-FFF2-40B4-BE49-F238E27FC236}">
                <a16:creationId xmlns:a16="http://schemas.microsoft.com/office/drawing/2014/main" id="{3E26F196-6714-CB48-B47E-6BF244C6944F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911" y="2973130"/>
            <a:ext cx="3179854" cy="2522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圖片 4" descr="../../../Desktop/螢幕快照%202018-10-18%20下午9.46.48.pn">
            <a:extLst>
              <a:ext uri="{FF2B5EF4-FFF2-40B4-BE49-F238E27FC236}">
                <a16:creationId xmlns:a16="http://schemas.microsoft.com/office/drawing/2014/main" id="{E1B4293B-490D-9749-A583-0F1284F1024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8724" y="2973130"/>
            <a:ext cx="3216003" cy="25220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545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03792F-EE92-E34D-9019-ADE0B634D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7-2-4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：活用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range( )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應用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0E35AB9-AF73-C743-945D-1256260F8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zh-TW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程式實例</a:t>
            </a:r>
            <a:r>
              <a:rPr lang="en-US" altLang="zh-TW" kern="100" dirty="0">
                <a:solidFill>
                  <a:srgbClr val="0070C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ch7_9.ipynb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：輸入一個正整數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，這個程式會列出從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加到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的總和。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E3B76CA-48D6-A967-FE52-C91E4ED81A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3768" y="3200400"/>
            <a:ext cx="46863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14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C1A9D4-8E91-F448-B29A-F468CD64E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7-2-5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：串列生成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(list generator)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的應用 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BB3B9F5-5B31-ED4B-B8AA-C85E41DFD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901952"/>
            <a:ext cx="7521526" cy="4384548"/>
          </a:xfrm>
        </p:spPr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ch7_10.py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：從觀念說起，建立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0-5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的串列，讀者最初可能會用下列方法。</a:t>
            </a: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ch7_11.py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：使用一個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for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迴圈和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range( )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重新設計上述程式。</a:t>
            </a: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092A90B-B3C5-4D67-020B-AF853D7E83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3642" y="2810240"/>
            <a:ext cx="3323144" cy="69961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0235" y="1901952"/>
            <a:ext cx="2065950" cy="232005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354" y="4756874"/>
            <a:ext cx="3389539" cy="1919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613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0FA0D4-6FC1-3942-B5CD-E7D96E95C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3771"/>
            <a:ext cx="10515600" cy="5393192"/>
          </a:xfrm>
        </p:spPr>
        <p:txBody>
          <a:bodyPr>
            <a:normAutofit/>
          </a:bodyPr>
          <a:lstStyle/>
          <a:p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新串列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= [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運算式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for 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項目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in 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可迭代物件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]</a:t>
            </a:r>
          </a:p>
          <a:p>
            <a:endParaRPr kumimoji="1"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xlst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= [ n for n in range(6)]</a:t>
            </a:r>
            <a:r>
              <a:rPr lang="zh-TW" altLang="zh-TW" sz="28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28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ch7_13.py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：用串列生成式產生串列。</a:t>
            </a: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6885" y="4099506"/>
            <a:ext cx="5478230" cy="1386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936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D7C4AFD-ACAF-3209-294D-04B751C78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98764"/>
            <a:ext cx="10515600" cy="5678199"/>
          </a:xfrm>
        </p:spPr>
        <p:txBody>
          <a:bodyPr>
            <a:normAutofit/>
          </a:bodyPr>
          <a:lstStyle/>
          <a:p>
            <a:pPr algn="just"/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如果要用串列生成語法產生元素是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至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的平方值的串列，此時內容可以修改如下：</a:t>
            </a:r>
          </a:p>
          <a:p>
            <a:pPr lvl="1" algn="just"/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square = [num ** 2 for num in range(1, n+1)]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用這種方式設計時，相較於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ch7_10.py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，我們可以省略第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列建立空串列。</a:t>
            </a:r>
          </a:p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ch7_14.py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：輸入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值，產生元素是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至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平方值的串列，如果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大於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，則將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設為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79BFF8C-523F-9789-052C-3AF2E62340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430" y="5710815"/>
            <a:ext cx="9547987" cy="932295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5238" y="3987328"/>
            <a:ext cx="5450370" cy="1553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705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DF3403-0D8F-9041-BCB9-75D3E325C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7-2-6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：含有條件式的串列生成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C1F90B-FAF5-C24B-8B6E-B798B2EE1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新串列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= [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運算式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for 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項目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in 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可迭代物件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if 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條件式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]</a:t>
            </a:r>
          </a:p>
          <a:p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下列是用傳統方式建立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1, 3, … , 9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的串列：</a:t>
            </a: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下列是使用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精神，設計含有條件式的串列生成程式。</a:t>
            </a: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 descr="../../../Desktop/螢幕快照%202018-10-18%20下午10.21.49.pn">
            <a:extLst>
              <a:ext uri="{FF2B5EF4-FFF2-40B4-BE49-F238E27FC236}">
                <a16:creationId xmlns:a16="http://schemas.microsoft.com/office/drawing/2014/main" id="{61363FA4-64FE-D94C-8783-962DE2D523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224" y="3047224"/>
            <a:ext cx="4332567" cy="1837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圖片 4" descr="../../../Desktop/螢幕快照%202018-10-18%20下午10.26.07.pn">
            <a:extLst>
              <a:ext uri="{FF2B5EF4-FFF2-40B4-BE49-F238E27FC236}">
                <a16:creationId xmlns:a16="http://schemas.microsoft.com/office/drawing/2014/main" id="{1BE37E6F-527C-9C40-813F-6BD2CBBE4E0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5932" y="5535822"/>
            <a:ext cx="6365149" cy="106639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927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21270C-2E0C-6D43-F211-74B7F2704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8927"/>
            <a:ext cx="10515600" cy="5408036"/>
          </a:xfrm>
        </p:spPr>
        <p:txBody>
          <a:bodyPr/>
          <a:lstStyle/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ch7_15.py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：畢達哥拉斯直角三角形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(A Pythagorean triple)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定義，其實這是我們國中數學所學的畢氏定理，基本觀念是直角三角形兩邊長的平方和等於斜邊的平方，如下：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B0C3305-3FC9-BC85-5015-FB331649F7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128" y="2151830"/>
            <a:ext cx="2978541" cy="65953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6C30233-E549-9F99-1123-4EEBA66F2F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646" y="3070247"/>
            <a:ext cx="9734707" cy="659533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52983" y="4445540"/>
            <a:ext cx="1168603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000" dirty="0"/>
              <a:t># ch7_15.py</a:t>
            </a:r>
          </a:p>
          <a:p>
            <a:r>
              <a:rPr lang="zh-TW" altLang="en-US" sz="2000" dirty="0"/>
              <a:t>x = [[a, b, c] for a in range(1,20) for b in range(a,20) for c in range(b,20) if a ** 2 + b ** 2 == c **2]</a:t>
            </a:r>
          </a:p>
          <a:p>
            <a:r>
              <a:rPr lang="zh-TW" altLang="en-US" sz="2000" dirty="0"/>
              <a:t>print(x)</a:t>
            </a:r>
          </a:p>
        </p:txBody>
      </p:sp>
    </p:spTree>
    <p:extLst>
      <p:ext uri="{BB962C8B-B14F-4D97-AF65-F5344CB8AC3E}">
        <p14:creationId xmlns:p14="http://schemas.microsoft.com/office/powerpoint/2010/main" val="1415819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7E4789-50EE-B642-A51C-F4D379DE5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7-2-7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：列出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ASCII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碼值或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Unicode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碼值的字元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63C811-BD77-814F-BFE9-79CB3D926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Aft>
                <a:spcPts val="0"/>
              </a:spcAft>
            </a:pP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下列是列出碼值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32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至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127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間的</a:t>
            </a:r>
            <a:r>
              <a:rPr lang="en-US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ASCII</a:t>
            </a:r>
            <a:r>
              <a:rPr lang="zh-TW" altLang="zh-TW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字元。</a:t>
            </a:r>
          </a:p>
          <a:p>
            <a:endParaRPr kumimoji="1" lang="zh-TW" altLang="en-US" dirty="0"/>
          </a:p>
        </p:txBody>
      </p:sp>
      <p:pic>
        <p:nvPicPr>
          <p:cNvPr id="4" name="圖片 3" descr="../../../Downloads/p2%20(13).jpg">
            <a:extLst>
              <a:ext uri="{FF2B5EF4-FFF2-40B4-BE49-F238E27FC236}">
                <a16:creationId xmlns:a16="http://schemas.microsoft.com/office/drawing/2014/main" id="{50155F88-0E15-1843-B6F9-CC4251BCF550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217" y="2680855"/>
            <a:ext cx="10016837" cy="18080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23580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52E075-5D31-9643-B4D5-1DF988D76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9471"/>
            <a:ext cx="10515600" cy="5507492"/>
          </a:xfrm>
        </p:spPr>
        <p:txBody>
          <a:bodyPr/>
          <a:lstStyle/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ch7_16.ipynb</a:t>
            </a:r>
            <a:r>
              <a:rPr lang="zh-TW" altLang="zh-TW" sz="2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：在</a:t>
            </a:r>
            <a:r>
              <a:rPr lang="en-US" altLang="zh-TW" sz="2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3-5-2</a:t>
            </a:r>
            <a:r>
              <a:rPr lang="zh-TW" altLang="zh-TW" sz="2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節筆者介紹了</a:t>
            </a:r>
            <a:r>
              <a:rPr lang="en-US" altLang="zh-TW" sz="2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Unicode</a:t>
            </a:r>
            <a:r>
              <a:rPr lang="zh-TW" altLang="zh-TW" sz="2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碼，羅馬數字</a:t>
            </a:r>
            <a:r>
              <a:rPr lang="en-US" altLang="zh-TW" sz="2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1 – 10</a:t>
            </a:r>
            <a:r>
              <a:rPr lang="zh-TW" altLang="zh-TW" sz="2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的</a:t>
            </a:r>
            <a:r>
              <a:rPr lang="en-US" altLang="zh-TW" sz="2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Unicode</a:t>
            </a:r>
            <a:r>
              <a:rPr lang="zh-TW" altLang="zh-TW" sz="2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字元是</a:t>
            </a:r>
            <a:r>
              <a:rPr lang="en-US" altLang="zh-TW" sz="2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0x2160</a:t>
            </a:r>
            <a:r>
              <a:rPr lang="zh-TW" altLang="zh-TW" sz="2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至</a:t>
            </a:r>
            <a:r>
              <a:rPr lang="en-US" altLang="zh-TW" sz="2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0x2169</a:t>
            </a:r>
            <a:r>
              <a:rPr lang="zh-TW" altLang="zh-TW" sz="2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之間，如下所示。</a:t>
            </a:r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96C76A90-173C-B544-070E-6C2B7E8830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109" y="2060661"/>
            <a:ext cx="6279400" cy="2068411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E104469D-DE5A-789E-C043-DB65793BA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109" y="4458278"/>
            <a:ext cx="6944418" cy="1963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858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1247C9-764C-1D4D-A319-8D4129E9C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7-3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：進階的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迴圈應用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990BDB7-D4FE-1148-B851-60C3B21D6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7-3-1</a:t>
            </a:r>
            <a:r>
              <a:rPr lang="zh-TW" altLang="en-US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：巢狀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for</a:t>
            </a:r>
            <a:r>
              <a:rPr lang="zh-TW" altLang="en-US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迴圈</a:t>
            </a: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spcAft>
                <a:spcPts val="0"/>
              </a:spcAft>
              <a:buNone/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for var1 in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可迭代物件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		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# 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外層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for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迴圈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…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for var2 in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可迭代物件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:		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# 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內層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for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迴圈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	….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28523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1DBDEA09-7A4C-3E24-9CC3-ADF5C618FF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688" y="3784836"/>
            <a:ext cx="8640624" cy="2598507"/>
          </a:xfrm>
          <a:prstGeom prst="rect">
            <a:avLst/>
          </a:prstGeom>
        </p:spPr>
      </p:pic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E990BDB7-D4FE-1148-B851-60C3B21D63A4}"/>
              </a:ext>
            </a:extLst>
          </p:cNvPr>
          <p:cNvSpPr txBox="1">
            <a:spLocks/>
          </p:cNvSpPr>
          <p:nvPr/>
        </p:nvSpPr>
        <p:spPr>
          <a:xfrm>
            <a:off x="1341119" y="1161288"/>
            <a:ext cx="9509760" cy="4127627"/>
          </a:xfrm>
          <a:prstGeom prst="rect">
            <a:avLst/>
          </a:prstGeom>
        </p:spPr>
        <p:txBody>
          <a:bodyPr>
            <a:no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lang="zh-TW" sz="20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itchFamily="34" charset="0"/>
              <a:buChar char="▪"/>
              <a:defRPr lang="zh-TW"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100000"/>
              <a:buFont typeface="Arial" pitchFamily="34" charset="0"/>
              <a:buChar char="▪"/>
              <a:defRPr lang="zh-TW" sz="16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100000"/>
              <a:buFont typeface="Arial" pitchFamily="34" charset="0"/>
              <a:buChar char="▪"/>
              <a:defRPr lang="zh-TW" sz="14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100000"/>
              <a:buFont typeface="Arial" pitchFamily="34" charset="0"/>
              <a:buChar char="▪"/>
              <a:defRPr lang="zh-TW" sz="14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100000"/>
              <a:buFont typeface="Arial" pitchFamily="34" charset="0"/>
              <a:buChar char="▪"/>
              <a:defRPr lang="zh-TW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100000"/>
              <a:buFont typeface="Arial" pitchFamily="34" charset="0"/>
              <a:buChar char="▪"/>
              <a:defRPr lang="zh-TW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100000"/>
              <a:buFont typeface="Arial" pitchFamily="34" charset="0"/>
              <a:buChar char="▪"/>
              <a:defRPr lang="zh-TW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346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100000"/>
              <a:buFont typeface="Arial" pitchFamily="34" charset="0"/>
              <a:buChar char="▪"/>
              <a:defRPr lang="zh-TW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ch7_</a:t>
            </a:r>
            <a:r>
              <a:rPr lang="en-US" altLang="zh-Hant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17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.py</a:t>
            </a:r>
            <a:r>
              <a:rPr lang="zh-TW" altLang="en-US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：列印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9*9</a:t>
            </a:r>
            <a:r>
              <a:rPr lang="zh-TW" altLang="en-US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的乘法表。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951" y="1861876"/>
            <a:ext cx="6188095" cy="1657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833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1D7D97-9599-2054-C45B-09CEFE9D2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1109"/>
            <a:ext cx="10515600" cy="5615854"/>
          </a:xfrm>
        </p:spPr>
        <p:txBody>
          <a:bodyPr/>
          <a:lstStyle/>
          <a:p>
            <a:r>
              <a:rPr lang="zh-TW" altLang="zh-TW" sz="2800" kern="1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ch7_18.ipynb</a:t>
            </a:r>
            <a:r>
              <a:rPr lang="zh-TW" altLang="zh-TW" sz="2800" kern="10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：繪製直角三角形。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D9DD6C9-8233-B13A-4432-F67423D02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758" y="1854199"/>
            <a:ext cx="3382241" cy="3584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247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8E32D3-BEBF-414A-8FDB-FF3F98235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7-3-2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：強制離開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迴圈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- break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指令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AE6025-358C-5745-88BC-40BA57460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for </a:t>
            </a:r>
            <a:r>
              <a:rPr lang="en-US" altLang="zh-TW" sz="2800" kern="100" dirty="0" err="1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var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in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可迭代物件：</a:t>
            </a:r>
          </a:p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程式碼區塊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if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條件運算式：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</a:t>
            </a:r>
            <a:r>
              <a:rPr lang="en-US" altLang="zh-TW" sz="24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# </a:t>
            </a:r>
            <a:r>
              <a:rPr lang="zh-TW" altLang="zh-TW" sz="24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判斷條件運算式</a:t>
            </a:r>
            <a:endParaRPr lang="zh-TW" altLang="zh-TW" sz="2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	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程式碼區塊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	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609600" indent="0" algn="just">
              <a:spcAft>
                <a:spcPts val="0"/>
              </a:spcAft>
              <a:buNone/>
            </a:pPr>
            <a:r>
              <a:rPr lang="zh-Hant" altLang="en-US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         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break	</a:t>
            </a:r>
            <a:r>
              <a:rPr lang="en-US" altLang="zh-TW" sz="24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#</a:t>
            </a:r>
            <a:r>
              <a:rPr lang="zh-TW" altLang="zh-TW" sz="24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如果條件運算式是</a:t>
            </a:r>
            <a:r>
              <a:rPr lang="en-US" altLang="zh-TW" sz="24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True</a:t>
            </a:r>
            <a:r>
              <a:rPr lang="zh-TW" altLang="zh-TW" sz="24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則離開</a:t>
            </a:r>
            <a:r>
              <a:rPr lang="en-US" altLang="zh-TW" sz="24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for</a:t>
            </a:r>
            <a:r>
              <a:rPr lang="zh-TW" altLang="zh-TW" sz="24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迴圈</a:t>
            </a:r>
            <a:endParaRPr lang="zh-TW" altLang="zh-TW" sz="2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程式碼區塊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5690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DEE9136-B6F3-239B-0562-C09DF93DA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5589" y="728313"/>
            <a:ext cx="8660822" cy="54013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3042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7C1FBC-EEF8-B746-A415-171E5722A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5800"/>
            <a:ext cx="10515600" cy="5491163"/>
          </a:xfrm>
        </p:spPr>
        <p:txBody>
          <a:bodyPr>
            <a:normAutofit/>
          </a:bodyPr>
          <a:lstStyle/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ch7_19.py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：列出球員名稱，螢幕輸球員人數，這個程式同時設定，如果螢幕輸入的人數大於串列的球員數時，自動將所輸入的人數降為串列的球員數。</a:t>
            </a: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1509DCB4-B412-8E81-CD60-018C393EBF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626" y="5220185"/>
            <a:ext cx="9356049" cy="836468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299" y="1993996"/>
            <a:ext cx="8539402" cy="3016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633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D8BFD8-98BA-9D48-84A0-17E3AE0BE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7-3-3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迴圈暫時停止不往下執行 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 continue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指令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4BDA66-7A6D-E344-811F-5132738CB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6200" indent="0" algn="just">
              <a:buNone/>
            </a:pP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for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2800" kern="100" dirty="0">
                <a:solidFill>
                  <a:srgbClr val="00B05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var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in 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可迭代物件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</a:p>
          <a:p>
            <a:pPr marL="76200" indent="0" algn="just">
              <a:buNone/>
            </a:pP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程式碼區塊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buNone/>
            </a:pP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if 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條件運算式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buNone/>
            </a:pP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	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程式碼區塊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609600" indent="0" algn="just">
              <a:buNone/>
            </a:pPr>
            <a:r>
              <a:rPr lang="en-US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	continue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 algn="just">
              <a:buNone/>
            </a:pP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程式碼區塊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</a:t>
            </a:r>
            <a:endParaRPr lang="zh-TW" altLang="zh-TW" sz="2800" kern="100" dirty="0">
              <a:effectLst/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內容版面配置區 4">
            <a:extLst>
              <a:ext uri="{FF2B5EF4-FFF2-40B4-BE49-F238E27FC236}">
                <a16:creationId xmlns:a16="http://schemas.microsoft.com/office/drawing/2014/main" id="{DED8E87E-A0EE-6CD4-1DE8-ED61E88DC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544" y="1901952"/>
            <a:ext cx="6330696" cy="39549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540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1B380B8-C0DC-A449-89B4-6354C7C77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4786"/>
            <a:ext cx="10515600" cy="5442177"/>
          </a:xfrm>
        </p:spPr>
        <p:txBody>
          <a:bodyPr>
            <a:normAutofit/>
          </a:bodyPr>
          <a:lstStyle/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ch7_20.py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：有一個串列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scores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紀錄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James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的比賽得分，設計一個程式可以列出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James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有多少場次得分大於或等於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30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分。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AFB770F1-1798-D318-3D92-8287F63CD7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4701" y="5151696"/>
            <a:ext cx="3208532" cy="1128041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4701" y="2353878"/>
            <a:ext cx="7183344" cy="2492441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870" y="5135190"/>
            <a:ext cx="4034130" cy="1247322"/>
          </a:xfrm>
          <a:prstGeom prst="rect">
            <a:avLst/>
          </a:prstGeom>
        </p:spPr>
      </p:pic>
      <p:cxnSp>
        <p:nvCxnSpPr>
          <p:cNvPr id="7" name="直線單箭頭接點 6"/>
          <p:cNvCxnSpPr/>
          <p:nvPr/>
        </p:nvCxnSpPr>
        <p:spPr>
          <a:xfrm>
            <a:off x="5798100" y="4005690"/>
            <a:ext cx="3132922" cy="1681258"/>
          </a:xfrm>
          <a:prstGeom prst="straightConnector1">
            <a:avLst/>
          </a:prstGeom>
          <a:ln w="444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514905" y="3425692"/>
            <a:ext cx="1994941" cy="8297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9177464" y="5551253"/>
            <a:ext cx="1760167" cy="5095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3762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FAE92A-813C-6241-9BFC-F423F1168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7-3-4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 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else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迴圈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D67B0ACC-6B4E-E34A-A7D2-4838585B4C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747" y="2279468"/>
            <a:ext cx="11192506" cy="3508684"/>
          </a:xfrm>
        </p:spPr>
      </p:pic>
    </p:spTree>
    <p:extLst>
      <p:ext uri="{BB962C8B-B14F-4D97-AF65-F5344CB8AC3E}">
        <p14:creationId xmlns:p14="http://schemas.microsoft.com/office/powerpoint/2010/main" val="35259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503709-DD6A-C24A-9B68-A03450651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51114"/>
            <a:ext cx="10515600" cy="5425849"/>
          </a:xfrm>
        </p:spPr>
        <p:txBody>
          <a:bodyPr>
            <a:normAutofit/>
          </a:bodyPr>
          <a:lstStyle/>
          <a:p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質數的條件是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endParaRPr lang="zh-TW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0"/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是質數。</a:t>
            </a:r>
          </a:p>
          <a:p>
            <a:pPr lvl="0"/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n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不可被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至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n-1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的數字整除。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>
              <a:spcAft>
                <a:spcPts val="0"/>
              </a:spcAft>
            </a:pP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ch7_21.py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：質數測試的程式，如果所輸入的數字是質數則列出是質數，否則列出不是質數。</a:t>
            </a:r>
          </a:p>
          <a:p>
            <a:pPr lvl="0"/>
            <a:endParaRPr lang="zh-TW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BFA1EB7F-7970-318D-4AEF-300701693C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633"/>
          <a:stretch/>
        </p:blipFill>
        <p:spPr>
          <a:xfrm>
            <a:off x="7504198" y="4576946"/>
            <a:ext cx="4541751" cy="857250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47" y="3573766"/>
            <a:ext cx="7313043" cy="286361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BFA1EB7F-7970-318D-4AEF-300701693C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62"/>
          <a:stretch/>
        </p:blipFill>
        <p:spPr>
          <a:xfrm>
            <a:off x="7486396" y="5592648"/>
            <a:ext cx="4577357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844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8E513E-2C93-164B-AC37-4C99A16E3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7-4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while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迴圈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29FF51-0ACE-2941-9CC2-69723A7781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6200" indent="0">
              <a:spcAft>
                <a:spcPts val="0"/>
              </a:spcAft>
              <a:buNone/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while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條件運算：</a:t>
            </a: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>
              <a:spcAft>
                <a:spcPts val="0"/>
              </a:spcAft>
              <a:buNone/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程式區塊</a:t>
            </a: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>
              <a:spcAft>
                <a:spcPts val="0"/>
              </a:spcAft>
              <a:buNone/>
            </a:pPr>
            <a:endParaRPr lang="en-US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76200" indent="0">
              <a:spcAft>
                <a:spcPts val="0"/>
              </a:spcAft>
              <a:buNone/>
            </a:pPr>
            <a:endParaRPr lang="zh-TW" altLang="zh-TW" sz="28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FAC8CBF-9471-DEE4-C27C-93B20A8CCA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621" y="1901952"/>
            <a:ext cx="7338900" cy="35935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37016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6E182-9133-EB4D-BE30-CCBBD3AF8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7-4-1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：基本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while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迴圈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80BD5F-6B5E-EA4A-A432-DFCC5915E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ch7_22.py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：這個程式會輸出你所輸入的內容，當輸入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q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時，程式才會執行結束。註：程式使用標記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active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紀錄是否迴圈繼續，如果是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True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則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while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迴圈繼續，否則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while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迴圈結束。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347A7FD-E9F2-8BCF-ED03-7B7C7963A0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434" y="3540550"/>
            <a:ext cx="6209566" cy="2348345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40550"/>
            <a:ext cx="6035896" cy="248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41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2300F3-6E70-2347-9EF8-931578B4E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7-4-2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：巢狀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while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迴圈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1B23D2-B09A-DF43-B2F5-3E9730507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901953"/>
            <a:ext cx="9509760" cy="315467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while 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條件運算：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			# 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外層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while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迴圈</a:t>
            </a:r>
          </a:p>
          <a:p>
            <a:pPr marL="0" indent="0">
              <a:buNone/>
            </a:pP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…</a:t>
            </a:r>
            <a:endParaRPr lang="zh-TW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buNone/>
            </a:pP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while 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條件運算：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		# 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內層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while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迴圈</a:t>
            </a:r>
          </a:p>
          <a:p>
            <a:pPr marL="0" indent="0">
              <a:buNone/>
            </a:pP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		…</a:t>
            </a:r>
            <a:endParaRPr lang="zh-TW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ch7_23.py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：使用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while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迴圈重新設計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ch7_17.py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，列印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9*9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乘法表。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438" y="4623136"/>
            <a:ext cx="4629796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790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4A37CE-AC95-684B-944E-4DDFA84B8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7-4-3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：強制離開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while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迴圈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- break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指令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20A1EF-B014-F544-BF4A-BEB3A2673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endParaRPr lang="en-US" altLang="zh-TW" kern="100" dirty="0">
              <a:solidFill>
                <a:srgbClr val="0070C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kern="100" dirty="0">
              <a:solidFill>
                <a:srgbClr val="0070C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kern="100" dirty="0">
              <a:solidFill>
                <a:srgbClr val="0070C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kern="100" dirty="0">
              <a:solidFill>
                <a:srgbClr val="0070C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kern="100" dirty="0">
              <a:solidFill>
                <a:srgbClr val="0070C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kern="100" dirty="0">
              <a:solidFill>
                <a:srgbClr val="0070C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E284EF1-40F9-BC4A-A055-E2CF1CBCDC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5414"/>
          <a:stretch/>
        </p:blipFill>
        <p:spPr>
          <a:xfrm>
            <a:off x="3831172" y="2011679"/>
            <a:ext cx="5011075" cy="440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157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A063F4-F336-D248-8008-FF48BE02A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7-4-4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while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迴圈暫時停止不往下執行 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– continue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指令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9657D6-3F10-CE46-AC43-AF0F30AC5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Aft>
                <a:spcPts val="0"/>
              </a:spcAft>
            </a:pPr>
            <a:endParaRPr lang="en-US" altLang="zh-TW" kern="100" dirty="0">
              <a:solidFill>
                <a:srgbClr val="0070C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kern="100" dirty="0">
              <a:solidFill>
                <a:srgbClr val="0070C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kern="100" dirty="0">
              <a:solidFill>
                <a:srgbClr val="0070C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kern="100" dirty="0">
              <a:solidFill>
                <a:srgbClr val="0070C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kern="100" dirty="0">
              <a:solidFill>
                <a:srgbClr val="0070C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kern="100" dirty="0">
              <a:solidFill>
                <a:srgbClr val="0070C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endParaRPr lang="en-US" altLang="zh-TW" kern="100" dirty="0">
              <a:solidFill>
                <a:srgbClr val="0070C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4C4B907-4DD1-1442-A651-2422F861F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035" y="2272537"/>
            <a:ext cx="10605930" cy="338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636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716799-270A-F34C-9702-0A42AAF0B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7-4-5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while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迴圈條件運算式與可迭代物件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93F294-25ED-7D49-B33B-5EB32E06A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while 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var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in 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可迭代物件：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# 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</a:t>
            </a:r>
            <a:r>
              <a:rPr lang="en-US" altLang="zh-TW" sz="24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var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in 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可迭代物件是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True</a:t>
            </a:r>
            <a:r>
              <a:rPr lang="zh-TW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則繼續</a:t>
            </a:r>
          </a:p>
          <a:p>
            <a:pPr marL="0" indent="0">
              <a:buNone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Hant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</a:t>
            </a:r>
            <a:r>
              <a:rPr lang="zh-TW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程式區塊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just">
              <a:spcAft>
                <a:spcPts val="0"/>
              </a:spcAft>
              <a:buNone/>
            </a:pP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while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可迭代物件：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	</a:t>
            </a:r>
            <a:r>
              <a:rPr lang="zh-TW" altLang="en-US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     </a:t>
            </a:r>
            <a:r>
              <a:rPr lang="en-US" altLang="zh-TW" sz="2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# </a:t>
            </a:r>
            <a:r>
              <a:rPr lang="zh-TW" altLang="zh-TW" sz="2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迭代</a:t>
            </a:r>
            <a:r>
              <a:rPr lang="zh-TW" altLang="en-US" sz="24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物件是空的才結束</a:t>
            </a:r>
            <a:endParaRPr lang="zh-TW" altLang="zh-TW" sz="2400" kern="100" dirty="0"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304800" indent="0" algn="just">
              <a:spcAft>
                <a:spcPts val="0"/>
              </a:spcAft>
              <a:buNone/>
            </a:pPr>
            <a:r>
              <a:rPr lang="zh-TW" altLang="en-US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程式區塊</a:t>
            </a:r>
          </a:p>
          <a:p>
            <a:endParaRPr lang="zh-TW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44959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93F294-25ED-7D49-B33B-5EB32E06A0B4}"/>
              </a:ext>
            </a:extLst>
          </p:cNvPr>
          <p:cNvSpPr txBox="1">
            <a:spLocks/>
          </p:cNvSpPr>
          <p:nvPr/>
        </p:nvSpPr>
        <p:spPr>
          <a:xfrm>
            <a:off x="1341120" y="1216152"/>
            <a:ext cx="9509760" cy="4127627"/>
          </a:xfrm>
          <a:prstGeom prst="rect">
            <a:avLst/>
          </a:prstGeom>
        </p:spPr>
        <p:txBody>
          <a:bodyPr>
            <a:noAutofit/>
          </a:bodyPr>
          <a:lstStyle>
            <a:lvl1pPr marL="274320" indent="-22860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SzPct val="100000"/>
              <a:buFont typeface="Arial" pitchFamily="34" charset="0"/>
              <a:buChar char="▪"/>
              <a:defRPr lang="zh-TW" sz="20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59436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SzPct val="100000"/>
              <a:buFont typeface="Arial" pitchFamily="34" charset="0"/>
              <a:buChar char="▪"/>
              <a:defRPr lang="zh-TW"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100000"/>
              <a:buFont typeface="Arial" pitchFamily="34" charset="0"/>
              <a:buChar char="▪"/>
              <a:defRPr lang="zh-TW" sz="16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100000"/>
              <a:buFont typeface="Arial" pitchFamily="34" charset="0"/>
              <a:buChar char="▪"/>
              <a:defRPr lang="zh-TW" sz="14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100000"/>
              <a:buFont typeface="Arial" pitchFamily="34" charset="0"/>
              <a:buChar char="▪"/>
              <a:defRPr lang="zh-TW" sz="14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7452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100000"/>
              <a:buFont typeface="Arial" pitchFamily="34" charset="0"/>
              <a:buChar char="▪"/>
              <a:defRPr lang="zh-TW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9456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100000"/>
              <a:buFont typeface="Arial" pitchFamily="34" charset="0"/>
              <a:buChar char="▪"/>
              <a:defRPr lang="zh-TW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1460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100000"/>
              <a:buFont typeface="Arial" pitchFamily="34" charset="0"/>
              <a:buChar char="▪"/>
              <a:defRPr lang="zh-TW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34640" indent="-228600" algn="l" defTabSz="914400" rtl="0" eaLnBrk="1" latinLnBrk="0" hangingPunct="1">
              <a:lnSpc>
                <a:spcPct val="90000"/>
              </a:lnSpc>
              <a:spcBef>
                <a:spcPts val="800"/>
              </a:spcBef>
              <a:buSzPct val="100000"/>
              <a:buFont typeface="Arial" pitchFamily="34" charset="0"/>
              <a:buChar char="▪"/>
              <a:defRPr lang="zh-TW"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zh-TW" altLang="en-US" sz="2800" kern="100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ch7_26.py</a:t>
            </a:r>
            <a:r>
              <a:rPr lang="zh-TW" altLang="en-US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：刪除串列內的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apple</a:t>
            </a:r>
            <a:r>
              <a:rPr lang="zh-TW" altLang="en-US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字串，程式第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5</a:t>
            </a:r>
            <a:r>
              <a:rPr lang="zh-TW" altLang="en-US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列，只要在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fruits</a:t>
            </a:r>
            <a:r>
              <a:rPr lang="zh-TW" altLang="en-US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串列內可以找到變數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fruit</a:t>
            </a:r>
            <a:r>
              <a:rPr lang="zh-TW" altLang="en-US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內容是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apple</a:t>
            </a:r>
            <a:r>
              <a:rPr lang="zh-TW" altLang="en-US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，就會傳回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True</a:t>
            </a:r>
            <a:r>
              <a:rPr lang="zh-TW" altLang="en-US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，迴圈將繼續。</a:t>
            </a:r>
          </a:p>
          <a:p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5B38EB48-1201-6695-9D8F-54EA06660C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162" y="5038643"/>
            <a:ext cx="8285676" cy="837623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8795" y="2594916"/>
            <a:ext cx="7294410" cy="2010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656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D04429-E09F-5A0B-CF21-F4F1C32EE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/>
          <a:lstStyle/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ch7_27.py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：有一個串列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buyers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，此串列內含購買者和消費金額，如果購買金額超過或達到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1000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元，則歸類為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VIP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買家</a:t>
            </a:r>
            <a:r>
              <a:rPr lang="en-US" altLang="zh-TW" sz="2800" kern="100" dirty="0" err="1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vipbuyers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串列。否則是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Gold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買家</a:t>
            </a:r>
            <a:r>
              <a:rPr lang="en-US" altLang="zh-TW" sz="2800" kern="100" dirty="0" err="1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goldbuyers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串列。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F101691-6A2C-7B16-3770-AFDB617E3E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0" y="2513185"/>
            <a:ext cx="9505576" cy="915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58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716799-270A-F34C-9702-0A42AAF0B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練習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93F294-25ED-7D49-B33B-5EB32E06A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隨機產生一串列，長度為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且元素內容為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到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，不能重複。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77240" lvl="1" indent="-457200"/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請問有哪些方式可以達成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457200" indent="-457200"/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猜數字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1A2B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pwd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= [p1, p2, p3, p4]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guess = [g1, g2, g3, g4]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。請寫出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guess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是幾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幾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的程式。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77240" lvl="1" indent="-457200"/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請問有哪些方式可以達成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marL="777240" lvl="1" indent="-457200"/>
            <a:endParaRPr lang="en-US" altLang="zh-TW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/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/>
            <a:endParaRPr lang="zh-TW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828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716799-270A-F34C-9702-0A42AAF0B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練習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93F294-25ED-7D49-B33B-5EB32E06A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隨機產生一串列，長度為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且元素內容為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到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，不能重複。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77240" lvl="1" indent="-457200"/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隨機取數放入串列，若有重複就再隨機一次。</a:t>
            </a:r>
            <a:endParaRPr lang="en-US" altLang="zh-TW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77240" lvl="1" indent="-457200"/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隨機取兩個位置，資料對調，重複多次，以打亂串列資料。</a:t>
            </a:r>
            <a:endParaRPr lang="en-US" altLang="zh-TW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77240" lvl="1" indent="-457200"/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多定義一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flag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串列長度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且初始值為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。當隨機到的數字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，就將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flag[A]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設為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。若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flag[A]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已經是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，就重新隨機。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/>
            <a:endParaRPr lang="zh-TW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5959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716799-270A-F34C-9702-0A42AAF0B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練習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93F294-25ED-7D49-B33B-5EB32E06A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indent="-457200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猜數字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1A2B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pwd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= [p1, p2, p3, p4]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guess = [g1, g2, g3, g4]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。請寫出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guess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是幾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幾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</a:t>
            </a: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的程式。</a:t>
            </a:r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77240" lvl="1" indent="-457200"/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g[</a:t>
            </a:r>
            <a:r>
              <a:rPr lang="en-US" altLang="zh-TW" sz="2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 == p[</a:t>
            </a:r>
            <a:r>
              <a:rPr lang="en-US" altLang="zh-TW" sz="2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 =&gt; A++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，否則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g[</a:t>
            </a:r>
            <a:r>
              <a:rPr lang="en-US" altLang="zh-TW" sz="2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pwd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=&gt;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B++</a:t>
            </a:r>
          </a:p>
          <a:p>
            <a:pPr marL="777240" lvl="1" indent="-457200"/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g[j] == p[</a:t>
            </a:r>
            <a:r>
              <a:rPr lang="en-US" altLang="zh-TW" sz="2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]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，若 </a:t>
            </a:r>
            <a:r>
              <a:rPr lang="en-US" altLang="zh-TW" sz="26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==j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  <a:sym typeface="Wingdings" panose="05000000000000000000" pitchFamily="2" charset="2"/>
              </a:rPr>
              <a:t>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A++</a:t>
            </a:r>
            <a:r>
              <a:rPr lang="zh-TW" altLang="en-US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否則 </a:t>
            </a:r>
            <a:r>
              <a:rPr lang="en-US" altLang="zh-TW" sz="2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B++</a:t>
            </a:r>
          </a:p>
          <a:p>
            <a:pPr marL="777240" lvl="1" indent="-457200"/>
            <a:endParaRPr lang="en-US" altLang="zh-TW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777240" lvl="1" indent="-457200"/>
            <a:endParaRPr lang="en-US" altLang="zh-TW" sz="26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/>
            <a:endParaRPr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57200" indent="-457200"/>
            <a:endParaRPr lang="zh-TW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en-US" altLang="zh-TW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16723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FEE920-0DF3-3D4A-A111-AC44DCB30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7-5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enumerate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物件使用</a:t>
            </a:r>
            <a:r>
              <a:rPr lang="en-US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for</a:t>
            </a:r>
            <a:r>
              <a:rPr lang="zh-TW" altLang="zh-TW" sz="4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迴圈解析</a:t>
            </a:r>
            <a:endParaRPr lang="zh-TW" altLang="en-US" sz="4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42BD21-3296-5649-A1E7-E12283C14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Aft>
                <a:spcPts val="0"/>
              </a:spcAft>
            </a:pP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將</a:t>
            </a:r>
            <a:r>
              <a:rPr lang="en-US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enumerate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物件的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索引值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與</a:t>
            </a:r>
            <a:r>
              <a:rPr lang="zh-TW" altLang="zh-TW" sz="2800" kern="100" dirty="0">
                <a:solidFill>
                  <a:srgbClr val="0070C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元素值</a:t>
            </a:r>
            <a:r>
              <a:rPr lang="zh-TW" altLang="zh-TW" sz="2800" kern="100" dirty="0"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解析出來。</a:t>
            </a:r>
          </a:p>
          <a:p>
            <a:endParaRPr kumimoji="1"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 descr="../../../Downloads/c-101.jpg">
            <a:extLst>
              <a:ext uri="{FF2B5EF4-FFF2-40B4-BE49-F238E27FC236}">
                <a16:creationId xmlns:a16="http://schemas.microsoft.com/office/drawing/2014/main" id="{E63843AC-5969-8942-B97F-7CBA36CA21C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9927" y="2639726"/>
            <a:ext cx="5732145" cy="26520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35487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3C81F97-44C4-0D46-ABE6-292ECE72F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7829"/>
            <a:ext cx="10515600" cy="5589134"/>
          </a:xfrm>
        </p:spPr>
        <p:txBody>
          <a:bodyPr/>
          <a:lstStyle/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ch7_28.py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：繼續設計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ch6_39.py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，將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enumerate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物件的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索引值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與</a:t>
            </a:r>
            <a:r>
              <a:rPr lang="zh-TW" altLang="zh-TW" sz="2800" kern="100" dirty="0">
                <a:solidFill>
                  <a:srgbClr val="0070C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元素值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解析出來。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02723C1E-A52A-5702-21F7-4C71BF9590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5061" y="1830138"/>
            <a:ext cx="2391064" cy="4015183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845" y="1830138"/>
            <a:ext cx="6713949" cy="323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088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9A0D7C-829F-E88A-996E-BFF4D292C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4236"/>
            <a:ext cx="10515600" cy="5532727"/>
          </a:xfrm>
        </p:spPr>
        <p:txBody>
          <a:bodyPr/>
          <a:lstStyle/>
          <a:p>
            <a:pPr algn="just"/>
            <a:r>
              <a:rPr lang="zh-TW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程式實例</a:t>
            </a:r>
            <a:r>
              <a:rPr lang="en-US" altLang="zh-TW" sz="2800" kern="100" dirty="0">
                <a:solidFill>
                  <a:srgbClr val="7030A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ch7_29.py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：以下是某位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NBA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球員的前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10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場的得分數據，可參考程式第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列，使用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enumerate( 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觀念列出那些場次得分超過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20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分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(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含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)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  <a:r>
              <a:rPr lang="zh-TW" altLang="zh-TW" sz="2800" kern="100" dirty="0">
                <a:solidFill>
                  <a:srgbClr val="2E74B5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註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：場次從第</a:t>
            </a:r>
            <a:r>
              <a:rPr lang="en-US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1</a:t>
            </a:r>
            <a:r>
              <a:rPr lang="zh-TW" altLang="zh-TW" sz="2800" kern="100" dirty="0">
                <a:effectLst/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場開始。</a:t>
            </a:r>
          </a:p>
          <a:p>
            <a:endParaRPr kumimoji="1"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8742A6D-68B1-63DA-0419-3A924A40AA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1223" y="4529860"/>
            <a:ext cx="2994613" cy="2159577"/>
          </a:xfrm>
          <a:prstGeom prst="rect">
            <a:avLst/>
          </a:prstGeom>
        </p:spPr>
      </p:pic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579" y="2111654"/>
            <a:ext cx="8470841" cy="203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549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anded Design Yellow 16x9">
  <a:themeElements>
    <a:clrScheme name="Banded_Design_Yellow">
      <a:dk1>
        <a:srgbClr val="323232"/>
      </a:dk1>
      <a:lt1>
        <a:sysClr val="window" lastClr="FFFFFF"/>
      </a:lt1>
      <a:dk2>
        <a:srgbClr val="000000"/>
      </a:dk2>
      <a:lt2>
        <a:srgbClr val="E5E8E8"/>
      </a:lt2>
      <a:accent1>
        <a:srgbClr val="FFCD36"/>
      </a:accent1>
      <a:accent2>
        <a:srgbClr val="F29E3E"/>
      </a:accent2>
      <a:accent3>
        <a:srgbClr val="83C546"/>
      </a:accent3>
      <a:accent4>
        <a:srgbClr val="52C1CA"/>
      </a:accent4>
      <a:accent5>
        <a:srgbClr val="7384CA"/>
      </a:accent5>
      <a:accent6>
        <a:srgbClr val="DA6A89"/>
      </a:accent6>
      <a:hlink>
        <a:srgbClr val="88CACA"/>
      </a:hlink>
      <a:folHlink>
        <a:srgbClr val="91A7CA"/>
      </a:folHlink>
    </a:clrScheme>
    <a:fontScheme name="Microsoft JhengHei UI">
      <a:majorFont>
        <a:latin typeface="Microsoft JhengHei UI"/>
        <a:ea typeface="Microsoft JhengHei UI"/>
        <a:cs typeface=""/>
      </a:majorFont>
      <a:minorFont>
        <a:latin typeface="Microsoft JhengHei UI"/>
        <a:ea typeface="Microsoft Jheng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_Design_Yellow_TP102900996" id="{AB4870CB-06BC-483D-898D-CB6E678212C7}" vid="{2ED2B3FE-BC13-4C0A-890E-57CB699DBA16}"/>
    </a:ext>
  </a:extLst>
</a:theme>
</file>

<file path=ppt/theme/theme2.xml><?xml version="1.0" encoding="utf-8"?>
<a:theme xmlns:a="http://schemas.openxmlformats.org/drawingml/2006/main" name="Office Theme">
  <a:themeElements>
    <a:clrScheme name="Banded_Design_Yellow">
      <a:dk1>
        <a:srgbClr val="595959"/>
      </a:dk1>
      <a:lt1>
        <a:sysClr val="window" lastClr="FFFFFF"/>
      </a:lt1>
      <a:dk2>
        <a:srgbClr val="323232"/>
      </a:dk2>
      <a:lt2>
        <a:srgbClr val="E5E8E8"/>
      </a:lt2>
      <a:accent1>
        <a:srgbClr val="FFCD36"/>
      </a:accent1>
      <a:accent2>
        <a:srgbClr val="F29E3E"/>
      </a:accent2>
      <a:accent3>
        <a:srgbClr val="83C546"/>
      </a:accent3>
      <a:accent4>
        <a:srgbClr val="52C1CA"/>
      </a:accent4>
      <a:accent5>
        <a:srgbClr val="7384CA"/>
      </a:accent5>
      <a:accent6>
        <a:srgbClr val="DA6A89"/>
      </a:accent6>
      <a:hlink>
        <a:srgbClr val="88CACA"/>
      </a:hlink>
      <a:folHlink>
        <a:srgbClr val="91A7CA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Banded_Design_Yellow">
      <a:dk1>
        <a:srgbClr val="595959"/>
      </a:dk1>
      <a:lt1>
        <a:sysClr val="window" lastClr="FFFFFF"/>
      </a:lt1>
      <a:dk2>
        <a:srgbClr val="323232"/>
      </a:dk2>
      <a:lt2>
        <a:srgbClr val="E5E8E8"/>
      </a:lt2>
      <a:accent1>
        <a:srgbClr val="FFCD36"/>
      </a:accent1>
      <a:accent2>
        <a:srgbClr val="F29E3E"/>
      </a:accent2>
      <a:accent3>
        <a:srgbClr val="83C546"/>
      </a:accent3>
      <a:accent4>
        <a:srgbClr val="52C1CA"/>
      </a:accent4>
      <a:accent5>
        <a:srgbClr val="7384CA"/>
      </a:accent5>
      <a:accent6>
        <a:srgbClr val="DA6A89"/>
      </a:accent6>
      <a:hlink>
        <a:srgbClr val="88CACA"/>
      </a:hlink>
      <a:folHlink>
        <a:srgbClr val="91A7CA"/>
      </a:folHlink>
    </a:clrScheme>
    <a:fontScheme name="Book Antiqua">
      <a:majorFont>
        <a:latin typeface="Book Antiqua"/>
        <a:ea typeface=""/>
        <a:cs typeface=""/>
      </a:majorFont>
      <a:minorFont>
        <a:latin typeface="Book Antiq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866677B1-365E-411F-9971-C788BC2975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黃色橫紋設計簡報 (寬螢幕)</Template>
  <TotalTime>0</TotalTime>
  <Words>1893</Words>
  <Application>Microsoft Office PowerPoint</Application>
  <PresentationFormat>寬螢幕</PresentationFormat>
  <Paragraphs>168</Paragraphs>
  <Slides>45</Slides>
  <Notes>0</Notes>
  <HiddenSlides>9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45</vt:i4>
      </vt:variant>
    </vt:vector>
  </HeadingPairs>
  <TitlesOfParts>
    <vt:vector size="51" baseType="lpstr">
      <vt:lpstr>Microsoft JhengHei UI</vt:lpstr>
      <vt:lpstr>微軟正黑體</vt:lpstr>
      <vt:lpstr>Arial</vt:lpstr>
      <vt:lpstr>Book Antiqua</vt:lpstr>
      <vt:lpstr>Calibri</vt:lpstr>
      <vt:lpstr>Banded Design Yellow 16x9</vt:lpstr>
      <vt:lpstr>迴圈設計</vt:lpstr>
      <vt:lpstr>7-1：基本for迴圈</vt:lpstr>
      <vt:lpstr>7-1-1：for迴圈基本運作</vt:lpstr>
      <vt:lpstr>7-1-2：如果程式碼區塊只有一列</vt:lpstr>
      <vt:lpstr>7-1-3：有多列的程式碼區塊</vt:lpstr>
      <vt:lpstr>PowerPoint 簡報</vt:lpstr>
      <vt:lpstr>7-1-4：將for迴圈應用在串列區間元素</vt:lpstr>
      <vt:lpstr>7-1-5：將for迴圈應用在資料類別的判斷</vt:lpstr>
      <vt:lpstr>7-2：range( )函數</vt:lpstr>
      <vt:lpstr>7-2-1：只有一個參數的range( )函數的應用</vt:lpstr>
      <vt:lpstr>PowerPoint 簡報</vt:lpstr>
      <vt:lpstr>7-2-2：有2個參數的range( )函數</vt:lpstr>
      <vt:lpstr>7-2-3：有3個參數的range( )函數</vt:lpstr>
      <vt:lpstr>7-2-4：活用range( )應用</vt:lpstr>
      <vt:lpstr>7-2-5：串列生成(list generator)的應用 </vt:lpstr>
      <vt:lpstr>PowerPoint 簡報</vt:lpstr>
      <vt:lpstr>PowerPoint 簡報</vt:lpstr>
      <vt:lpstr>7-2-6：含有條件式的串列生成</vt:lpstr>
      <vt:lpstr>PowerPoint 簡報</vt:lpstr>
      <vt:lpstr>7-2-7：列出ASCII碼值或Unicode碼值的字元</vt:lpstr>
      <vt:lpstr>PowerPoint 簡報</vt:lpstr>
      <vt:lpstr>7-3：進階的for迴圈應用</vt:lpstr>
      <vt:lpstr>PowerPoint 簡報</vt:lpstr>
      <vt:lpstr>PowerPoint 簡報</vt:lpstr>
      <vt:lpstr>7-3-2：強制離開for迴圈 - break指令</vt:lpstr>
      <vt:lpstr>PowerPoint 簡報</vt:lpstr>
      <vt:lpstr>PowerPoint 簡報</vt:lpstr>
      <vt:lpstr>7-3-3：for迴圈暫時停止不往下執行 – continue指令</vt:lpstr>
      <vt:lpstr>PowerPoint 簡報</vt:lpstr>
      <vt:lpstr>7-3-4：for … else迴圈</vt:lpstr>
      <vt:lpstr>PowerPoint 簡報</vt:lpstr>
      <vt:lpstr>7-4：while迴圈</vt:lpstr>
      <vt:lpstr>7-4-1：基本while迴圈</vt:lpstr>
      <vt:lpstr>7-4-2：巢狀while迴圈</vt:lpstr>
      <vt:lpstr>7-4-3：強制離開while迴圈 - break指令</vt:lpstr>
      <vt:lpstr>7-4-4：while迴圈暫時停止不往下執行 – continue指令</vt:lpstr>
      <vt:lpstr>7-4-5：while迴圈條件運算式與可迭代物件</vt:lpstr>
      <vt:lpstr>PowerPoint 簡報</vt:lpstr>
      <vt:lpstr>PowerPoint 簡報</vt:lpstr>
      <vt:lpstr>練習</vt:lpstr>
      <vt:lpstr>練習</vt:lpstr>
      <vt:lpstr>練習</vt:lpstr>
      <vt:lpstr>7-5：enumerate物件使用for迴圈解析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2021-08-20T14:38:34Z</dcterms:created>
  <dcterms:modified xsi:type="dcterms:W3CDTF">2025-10-23T03:40:46Z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TC029009979991</vt:lpwstr>
  </property>
</Properties>
</file>