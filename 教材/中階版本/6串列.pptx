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72"/>
  </p:notesMasterIdLst>
  <p:handoutMasterIdLst>
    <p:handoutMasterId r:id="rId73"/>
  </p:handoutMasterIdLst>
  <p:sldIdLst>
    <p:sldId id="256" r:id="rId3"/>
    <p:sldId id="455" r:id="rId4"/>
    <p:sldId id="456" r:id="rId5"/>
    <p:sldId id="457" r:id="rId6"/>
    <p:sldId id="458" r:id="rId7"/>
    <p:sldId id="459" r:id="rId8"/>
    <p:sldId id="460" r:id="rId9"/>
    <p:sldId id="461" r:id="rId10"/>
    <p:sldId id="462" r:id="rId11"/>
    <p:sldId id="463" r:id="rId12"/>
    <p:sldId id="464" r:id="rId13"/>
    <p:sldId id="465" r:id="rId14"/>
    <p:sldId id="466" r:id="rId15"/>
    <p:sldId id="467" r:id="rId16"/>
    <p:sldId id="468" r:id="rId17"/>
    <p:sldId id="469" r:id="rId18"/>
    <p:sldId id="470" r:id="rId19"/>
    <p:sldId id="471" r:id="rId20"/>
    <p:sldId id="472" r:id="rId21"/>
    <p:sldId id="473" r:id="rId22"/>
    <p:sldId id="474" r:id="rId23"/>
    <p:sldId id="475" r:id="rId24"/>
    <p:sldId id="476" r:id="rId25"/>
    <p:sldId id="477" r:id="rId26"/>
    <p:sldId id="478" r:id="rId27"/>
    <p:sldId id="479" r:id="rId28"/>
    <p:sldId id="480" r:id="rId29"/>
    <p:sldId id="482" r:id="rId30"/>
    <p:sldId id="483" r:id="rId31"/>
    <p:sldId id="484" r:id="rId32"/>
    <p:sldId id="485" r:id="rId33"/>
    <p:sldId id="486" r:id="rId34"/>
    <p:sldId id="487" r:id="rId35"/>
    <p:sldId id="488" r:id="rId36"/>
    <p:sldId id="490" r:id="rId37"/>
    <p:sldId id="491" r:id="rId38"/>
    <p:sldId id="492" r:id="rId39"/>
    <p:sldId id="493" r:id="rId40"/>
    <p:sldId id="494" r:id="rId41"/>
    <p:sldId id="495" r:id="rId42"/>
    <p:sldId id="496" r:id="rId43"/>
    <p:sldId id="498" r:id="rId44"/>
    <p:sldId id="499" r:id="rId45"/>
    <p:sldId id="501" r:id="rId46"/>
    <p:sldId id="503" r:id="rId47"/>
    <p:sldId id="504" r:id="rId48"/>
    <p:sldId id="505" r:id="rId49"/>
    <p:sldId id="506" r:id="rId50"/>
    <p:sldId id="507" r:id="rId51"/>
    <p:sldId id="509" r:id="rId52"/>
    <p:sldId id="510" r:id="rId53"/>
    <p:sldId id="511" r:id="rId54"/>
    <p:sldId id="513" r:id="rId55"/>
    <p:sldId id="514" r:id="rId56"/>
    <p:sldId id="515" r:id="rId57"/>
    <p:sldId id="516" r:id="rId58"/>
    <p:sldId id="517" r:id="rId59"/>
    <p:sldId id="519" r:id="rId60"/>
    <p:sldId id="520" r:id="rId61"/>
    <p:sldId id="521" r:id="rId62"/>
    <p:sldId id="522" r:id="rId63"/>
    <p:sldId id="523" r:id="rId64"/>
    <p:sldId id="525" r:id="rId65"/>
    <p:sldId id="526" r:id="rId66"/>
    <p:sldId id="527" r:id="rId67"/>
    <p:sldId id="529" r:id="rId68"/>
    <p:sldId id="531" r:id="rId69"/>
    <p:sldId id="533" r:id="rId70"/>
    <p:sldId id="535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603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FD9D2DDA-69D8-473F-A583-B6774B31A77B}" type="datetimeFigureOut">
              <a:rPr lang="en-US" altLang="zh-TW"/>
              <a:t>11/14/2024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02392CCB-FF08-4D29-8DA3-E1FD86044808}" type="slidenum">
              <a:rPr lang="zh-TW"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A01F6DFB-6833-46E4-B515-70E0D9178056}" type="datetimeFigureOut">
              <a:t>2024/11/14</a:t>
            </a:fld>
            <a:endParaRPr lang="zh-TW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958706C7-F2C3-48B6-8A22-C484D800B5D4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" y="1905000"/>
            <a:ext cx="12188826" cy="320040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50000"/>
                </a:schemeClr>
              </a:gs>
              <a:gs pos="0">
                <a:schemeClr val="accent1">
                  <a:lumMod val="60000"/>
                  <a:lumOff val="4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/>
          </a:p>
        </p:txBody>
      </p:sp>
      <p:sp>
        <p:nvSpPr>
          <p:cNvPr id="10" name="矩形 9"/>
          <p:cNvSpPr/>
          <p:nvPr/>
        </p:nvSpPr>
        <p:spPr>
          <a:xfrm>
            <a:off x="-2" y="1795132"/>
            <a:ext cx="12188826" cy="7315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0000"/>
                </a:schemeClr>
              </a:gs>
              <a:gs pos="0">
                <a:schemeClr val="accent1">
                  <a:lumMod val="60000"/>
                  <a:lumOff val="4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/>
          </a:p>
        </p:txBody>
      </p:sp>
      <p:sp>
        <p:nvSpPr>
          <p:cNvPr id="11" name="矩形 10"/>
          <p:cNvSpPr/>
          <p:nvPr/>
        </p:nvSpPr>
        <p:spPr>
          <a:xfrm>
            <a:off x="-2" y="5142116"/>
            <a:ext cx="12188826" cy="7315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0000"/>
                </a:schemeClr>
              </a:gs>
              <a:gs pos="0">
                <a:schemeClr val="accent1">
                  <a:lumMod val="60000"/>
                  <a:lumOff val="4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 latinLnBrk="0">
              <a:defRPr lang="zh-TW" sz="54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 latinLnBrk="0">
              <a:spcBef>
                <a:spcPts val="0"/>
              </a:spcBef>
              <a:buNone/>
              <a:defRPr lang="zh-TW" sz="2000"/>
            </a:lvl1pPr>
            <a:lvl2pPr marL="457200" indent="0" algn="ctr" latinLnBrk="0">
              <a:buNone/>
              <a:defRPr lang="zh-TW" sz="2800"/>
            </a:lvl2pPr>
            <a:lvl3pPr marL="914400" indent="0" algn="ctr" latinLnBrk="0">
              <a:buNone/>
              <a:defRPr lang="zh-TW" sz="2400"/>
            </a:lvl3pPr>
            <a:lvl4pPr marL="1371600" indent="0" algn="ctr" latinLnBrk="0">
              <a:buNone/>
              <a:defRPr lang="zh-TW" sz="2000"/>
            </a:lvl4pPr>
            <a:lvl5pPr marL="1828800" indent="0" algn="ctr" latinLnBrk="0">
              <a:buNone/>
              <a:defRPr lang="zh-TW" sz="2000"/>
            </a:lvl5pPr>
            <a:lvl6pPr marL="2286000" indent="0" algn="ctr" latinLnBrk="0">
              <a:buNone/>
              <a:defRPr lang="zh-TW" sz="2000"/>
            </a:lvl6pPr>
            <a:lvl7pPr marL="2743200" indent="0" algn="ctr" latinLnBrk="0">
              <a:buNone/>
              <a:defRPr lang="zh-TW" sz="2000"/>
            </a:lvl7pPr>
            <a:lvl8pPr marL="3200400" indent="0" algn="ctr" latinLnBrk="0">
              <a:buNone/>
              <a:defRPr lang="zh-TW" sz="2000"/>
            </a:lvl8pPr>
            <a:lvl9pPr marL="3657600" indent="0" algn="ctr" latinLnBrk="0">
              <a:buNone/>
              <a:defRPr lang="zh-TW" sz="2000"/>
            </a:lvl9pPr>
          </a:lstStyle>
          <a:p>
            <a:r>
              <a:rPr lang="zh-TW" altLang="en-US"/>
              <a:t>按一下以編輯母片副標題樣式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98575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5pPr latinLnBrk="0">
              <a:defRPr lang="zh-TW"/>
            </a:lvl5pPr>
            <a:lvl6pPr latinLnBrk="0">
              <a:defRPr lang="zh-TW"/>
            </a:lvl6pPr>
            <a:lvl7pPr latinLnBrk="0">
              <a:defRPr lang="zh-TW"/>
            </a:lvl7pPr>
            <a:lvl8pPr latinLnBrk="0">
              <a:defRPr lang="zh-TW"/>
            </a:lvl8pPr>
            <a:lvl9pPr latinLnBrk="0">
              <a:defRPr lang="zh-TW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2024/11/14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17319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gradFill rotWithShape="1">
          <a:gsLst>
            <a:gs pos="100000">
              <a:schemeClr val="accent1">
                <a:alpha val="80000"/>
              </a:schemeClr>
            </a:gs>
            <a:gs pos="0">
              <a:schemeClr val="accent1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 latinLnBrk="0">
              <a:defRPr lang="zh-TW" sz="5400" b="1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 latinLnBrk="0">
              <a:spcBef>
                <a:spcPts val="0"/>
              </a:spcBef>
              <a:buNone/>
              <a:defRPr lang="zh-TW"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2024/11/14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16203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 latinLnBrk="0">
              <a:defRPr lang="zh-TW" sz="2000"/>
            </a:lvl1pPr>
            <a:lvl2pPr latinLnBrk="0">
              <a:defRPr lang="zh-TW" sz="1800"/>
            </a:lvl2pPr>
            <a:lvl3pPr latinLnBrk="0">
              <a:defRPr lang="zh-TW" sz="1600"/>
            </a:lvl3pPr>
            <a:lvl4pPr latinLnBrk="0">
              <a:defRPr lang="zh-TW" sz="1400"/>
            </a:lvl4pPr>
            <a:lvl5pPr latinLnBrk="0">
              <a:defRPr lang="zh-TW" sz="1400"/>
            </a:lvl5pPr>
            <a:lvl6pPr latinLnBrk="0">
              <a:defRPr lang="zh-TW" sz="1400"/>
            </a:lvl6pPr>
            <a:lvl7pPr latinLnBrk="0">
              <a:defRPr lang="zh-TW" sz="1400"/>
            </a:lvl7pPr>
            <a:lvl8pPr latinLnBrk="0">
              <a:defRPr lang="zh-TW" sz="1400"/>
            </a:lvl8pPr>
            <a:lvl9pPr latinLnBrk="0">
              <a:defRPr lang="zh-TW" sz="1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 latinLnBrk="0">
              <a:defRPr lang="zh-TW" sz="2000"/>
            </a:lvl1pPr>
            <a:lvl2pPr latinLnBrk="0">
              <a:defRPr lang="zh-TW" sz="1800"/>
            </a:lvl2pPr>
            <a:lvl3pPr latinLnBrk="0">
              <a:defRPr lang="zh-TW" sz="1600"/>
            </a:lvl3pPr>
            <a:lvl4pPr latinLnBrk="0">
              <a:defRPr lang="zh-TW" sz="1400"/>
            </a:lvl4pPr>
            <a:lvl5pPr latinLnBrk="0">
              <a:defRPr lang="zh-TW" sz="1400"/>
            </a:lvl5pPr>
            <a:lvl6pPr latinLnBrk="0">
              <a:defRPr lang="zh-TW" sz="1400"/>
            </a:lvl6pPr>
            <a:lvl7pPr latinLnBrk="0">
              <a:defRPr lang="zh-TW" sz="1400"/>
            </a:lvl7pPr>
            <a:lvl8pPr latinLnBrk="0">
              <a:defRPr lang="zh-TW" sz="1400"/>
            </a:lvl8pPr>
            <a:lvl9pPr latinLnBrk="0">
              <a:defRPr lang="zh-TW" sz="1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2024/11/14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67635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2200" b="1">
                <a:solidFill>
                  <a:schemeClr val="tx1"/>
                </a:solidFill>
              </a:defRPr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 latinLnBrk="0">
              <a:defRPr lang="zh-TW" sz="1800"/>
            </a:lvl1pPr>
            <a:lvl2pPr latinLnBrk="0">
              <a:defRPr lang="zh-TW" sz="1600"/>
            </a:lvl2pPr>
            <a:lvl3pPr latinLnBrk="0">
              <a:defRPr lang="zh-TW" sz="1400"/>
            </a:lvl3pPr>
            <a:lvl4pPr latinLnBrk="0">
              <a:defRPr lang="zh-TW" sz="1200"/>
            </a:lvl4pPr>
            <a:lvl5pPr latinLnBrk="0">
              <a:defRPr lang="zh-TW" sz="1200"/>
            </a:lvl5pPr>
            <a:lvl6pPr latinLnBrk="0">
              <a:defRPr lang="zh-TW" sz="1200"/>
            </a:lvl6pPr>
            <a:lvl7pPr latinLnBrk="0">
              <a:defRPr lang="zh-TW" sz="1200"/>
            </a:lvl7pPr>
            <a:lvl8pPr latinLnBrk="0">
              <a:defRPr lang="zh-TW" sz="1200"/>
            </a:lvl8pPr>
            <a:lvl9pPr latinLnBrk="0">
              <a:defRPr lang="zh-TW"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2200" b="1">
                <a:solidFill>
                  <a:schemeClr val="tx1"/>
                </a:solidFill>
              </a:defRPr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 latinLnBrk="0">
              <a:defRPr lang="zh-TW" sz="1800"/>
            </a:lvl1pPr>
            <a:lvl2pPr latinLnBrk="0">
              <a:defRPr lang="zh-TW" sz="1600"/>
            </a:lvl2pPr>
            <a:lvl3pPr latinLnBrk="0">
              <a:defRPr lang="zh-TW" sz="1400"/>
            </a:lvl3pPr>
            <a:lvl4pPr latinLnBrk="0">
              <a:defRPr lang="zh-TW" sz="1200"/>
            </a:lvl4pPr>
            <a:lvl5pPr latinLnBrk="0">
              <a:defRPr lang="zh-TW" sz="1200"/>
            </a:lvl5pPr>
            <a:lvl6pPr latinLnBrk="0">
              <a:defRPr lang="zh-TW" sz="1200"/>
            </a:lvl6pPr>
            <a:lvl7pPr latinLnBrk="0">
              <a:defRPr lang="zh-TW" sz="1200"/>
            </a:lvl7pPr>
            <a:lvl8pPr latinLnBrk="0">
              <a:defRPr lang="zh-TW" sz="1200"/>
            </a:lvl8pPr>
            <a:lvl9pPr latinLnBrk="0">
              <a:defRPr lang="zh-TW"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/>
              <a:t>
            </a:t>
            </a:r>
            <a:fld id="{0B277187-C200-495F-A386-621319EADA8F}" type="datetimeFigureOut">
              <a:t>2024/11/14</a:t>
            </a:fld>
            <a:r>
              <a:rPr lang="zh-TW"/>
              <a:t>
            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/>
              <a:t>
            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/>
              <a:t>
            </a:t>
            </a:r>
            <a:fld id="{FC749032-2A07-4AE8-BA90-74324CAE0C87}" type="slidenum">
              <a:t>‹#›</a:t>
            </a:fld>
            <a:r>
              <a:rPr lang="zh-TW"/>
              <a:t>
            </a:t>
            </a:r>
          </a:p>
        </p:txBody>
      </p:sp>
    </p:spTree>
    <p:extLst>
      <p:ext uri="{BB962C8B-B14F-4D97-AF65-F5344CB8AC3E}">
        <p14:creationId xmlns:p14="http://schemas.microsoft.com/office/powerpoint/2010/main" val="325439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2024/11/14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41291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矩形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7" name="矩形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2024/11/14</a:t>
            </a:fld>
            <a:endParaRPr 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29543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矩形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10" name="矩形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 latinLnBrk="0">
              <a:defRPr lang="zh-TW" sz="3400" b="1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 latinLnBrk="0">
              <a:defRPr lang="zh-TW" sz="2000"/>
            </a:lvl1pPr>
            <a:lvl2pPr latinLnBrk="0">
              <a:defRPr lang="zh-TW" sz="1800"/>
            </a:lvl2pPr>
            <a:lvl3pPr latinLnBrk="0">
              <a:defRPr lang="zh-TW" sz="1600"/>
            </a:lvl3pPr>
            <a:lvl4pPr latinLnBrk="0">
              <a:defRPr lang="zh-TW" sz="1400"/>
            </a:lvl4pPr>
            <a:lvl5pPr latinLnBrk="0">
              <a:defRPr lang="zh-TW" sz="1400"/>
            </a:lvl5pPr>
            <a:lvl6pPr latinLnBrk="0">
              <a:defRPr lang="zh-TW" sz="1400"/>
            </a:lvl6pPr>
            <a:lvl7pPr latinLnBrk="0">
              <a:defRPr lang="zh-TW" sz="1400"/>
            </a:lvl7pPr>
            <a:lvl8pPr latinLnBrk="0">
              <a:defRPr lang="zh-TW" sz="1400"/>
            </a:lvl8pPr>
            <a:lvl9pPr latinLnBrk="0">
              <a:defRPr lang="zh-TW" sz="1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TW" sz="16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2024/11/14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53937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矩形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10" name="矩形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 latinLnBrk="0">
              <a:defRPr lang="zh-TW" sz="3400" b="1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 latinLnBrk="0">
              <a:buNone/>
              <a:defRPr lang="zh-TW" sz="20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TW" sz="16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2024/11/14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1019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垂直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 latinLnBrk="0">
              <a:defRPr lang="zh-TW"/>
            </a:lvl5pPr>
            <a:lvl6pPr latinLnBrk="0">
              <a:defRPr lang="zh-TW"/>
            </a:lvl6pPr>
            <a:lvl7pPr latinLnBrk="0">
              <a:defRPr lang="zh-TW"/>
            </a:lvl7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2024/11/14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735931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2024/11/14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3050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  <a:alpha val="59000"/>
              </a:schemeClr>
            </a:gs>
            <a:gs pos="40000">
              <a:schemeClr val="accent1">
                <a:lumMod val="20000"/>
                <a:lumOff val="80000"/>
                <a:alpha val="66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/>
          <p:cNvGrpSpPr/>
          <p:nvPr/>
        </p:nvGrpSpPr>
        <p:grpSpPr>
          <a:xfrm>
            <a:off x="-1" y="6480048"/>
            <a:ext cx="12188827" cy="377952"/>
            <a:chOff x="-1" y="6480048"/>
            <a:chExt cx="12188827" cy="377952"/>
          </a:xfrm>
        </p:grpSpPr>
        <p:sp>
          <p:nvSpPr>
            <p:cNvPr id="7" name="矩形 6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/>
                </a:solidFill>
              </a:defRPr>
            </a:lvl1pPr>
          </a:lstStyle>
          <a:p>
            <a:fld id="{0B277187-C200-495F-A386-621319EADA8F}" type="datetimeFigureOut">
              <a:pPr/>
              <a:t>2024/11/14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TW" sz="900">
                <a:solidFill>
                  <a:schemeClr val="tx1"/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pPr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87002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TW"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lang="zh-TW"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100000"/>
        <a:buFont typeface="Arial" pitchFamily="34" charset="0"/>
        <a:buChar char="▪"/>
        <a:defRPr lang="zh-TW" sz="1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6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t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t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i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t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ti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ti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ti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ti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t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tif"/><Relationship Id="rId2" Type="http://schemas.openxmlformats.org/officeDocument/2006/relationships/image" Target="../media/image56.ti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ti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ti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ti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ti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ti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ti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ti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ti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ti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tif"/><Relationship Id="rId2" Type="http://schemas.openxmlformats.org/officeDocument/2006/relationships/image" Target="../media/image69.ti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tif"/><Relationship Id="rId2" Type="http://schemas.openxmlformats.org/officeDocument/2006/relationships/image" Target="../media/image71.ti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ti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t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</a:t>
            </a:r>
            <a:endParaRPr 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副標題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國立臺北商業大學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資訊管理系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張隆君</a:t>
            </a:r>
            <a:endParaRPr 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77EF01-66EC-E240-B175-C38A669BC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6-1</a:t>
            </a:r>
            <a:r>
              <a:rPr lang="zh-TW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：認識串列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(list)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endParaRPr kumimoji="1"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D372A8-2A98-644A-8134-7869C3A33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功能除了可以儲存相同資料型態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串列也可以儲存不同資料型態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甚至一個</a:t>
            </a:r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也可以有其它</a:t>
            </a:r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串列、元組</a:t>
            </a:r>
            <a:r>
              <a:rPr lang="en-US" altLang="zh-TW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(tuple</a:t>
            </a:r>
            <a:r>
              <a:rPr lang="zh-TW" altLang="zh-TW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，第</a:t>
            </a:r>
            <a:r>
              <a:rPr lang="en-US" altLang="zh-TW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  <a:r>
              <a:rPr lang="zh-TW" altLang="zh-TW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章內容</a:t>
            </a:r>
            <a:r>
              <a:rPr lang="en-US" altLang="zh-TW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或是</a:t>
            </a:r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字典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dict</a:t>
            </a:r>
            <a:r>
              <a:rPr lang="zh-TW" altLang="zh-TW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，第</a:t>
            </a:r>
            <a:r>
              <a:rPr lang="en-US" altLang="zh-TW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  <a:r>
              <a:rPr lang="zh-TW" altLang="zh-TW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章內容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… 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等當作是它的元素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 descr="../../../Downloads/p1%20(10).jpg">
            <a:extLst>
              <a:ext uri="{FF2B5EF4-FFF2-40B4-BE49-F238E27FC236}">
                <a16:creationId xmlns:a16="http://schemas.microsoft.com/office/drawing/2014/main" id="{B9490BE0-CE6F-7D46-9E2F-A9A5F74C897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299" y="4203517"/>
            <a:ext cx="6819402" cy="23106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9275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360220-6B73-9449-8686-14D0704B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6-1-1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：串列基本定義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A4078E-EC75-3240-AE1A-5D5023E8D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4800" algn="just">
              <a:spcAft>
                <a:spcPts val="0"/>
              </a:spcAft>
            </a:pP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name_list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= [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元素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1, … ,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元素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n,] </a:t>
            </a: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# </a:t>
            </a:r>
            <a:r>
              <a:rPr lang="en-US" altLang="zh-TW" sz="2800" kern="100" dirty="0" err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name_list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是假設的串列名稱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上述</a:t>
            </a:r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元素</a:t>
            </a:r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右邊的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”,”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可有可無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 descr="../../../Downloads/6-25-7.jpg">
            <a:extLst>
              <a:ext uri="{FF2B5EF4-FFF2-40B4-BE49-F238E27FC236}">
                <a16:creationId xmlns:a16="http://schemas.microsoft.com/office/drawing/2014/main" id="{3D44BF3F-6CAE-5444-B350-A643D709ABAC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9" t="11533" b="49739"/>
          <a:stretch/>
        </p:blipFill>
        <p:spPr bwMode="auto">
          <a:xfrm>
            <a:off x="2044495" y="3965765"/>
            <a:ext cx="8103009" cy="18524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8179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97C4F6-40E1-274E-89D5-93F75D168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zh-Hant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串列範例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內容版面配置區 3" descr="../../../Downloads/a1%20(2).jpg">
            <a:extLst>
              <a:ext uri="{FF2B5EF4-FFF2-40B4-BE49-F238E27FC236}">
                <a16:creationId xmlns:a16="http://schemas.microsoft.com/office/drawing/2014/main" id="{147ADF26-BADA-2145-B684-D35DE190353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611" y="1988996"/>
            <a:ext cx="5309507" cy="336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 descr="../../../Downloads/a2%20(1).jpg">
            <a:extLst>
              <a:ext uri="{FF2B5EF4-FFF2-40B4-BE49-F238E27FC236}">
                <a16:creationId xmlns:a16="http://schemas.microsoft.com/office/drawing/2014/main" id="{B84E7356-CB2B-8A4D-8BFD-EF5E503D468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611" y="3138956"/>
            <a:ext cx="4950281" cy="295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圖片 5" descr="../../../Downloads/a3%20(1).jpg">
            <a:extLst>
              <a:ext uri="{FF2B5EF4-FFF2-40B4-BE49-F238E27FC236}">
                <a16:creationId xmlns:a16="http://schemas.microsoft.com/office/drawing/2014/main" id="{4BCF686F-B26B-A94A-AEE6-2C1D5D49A67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612" y="4332734"/>
            <a:ext cx="4950280" cy="346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圖片 6" descr="../../../Downloads/a4%20(2).jpg">
            <a:extLst>
              <a:ext uri="{FF2B5EF4-FFF2-40B4-BE49-F238E27FC236}">
                <a16:creationId xmlns:a16="http://schemas.microsoft.com/office/drawing/2014/main" id="{6F6C9E5D-AAAB-F740-A99C-10066CB56735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611" y="5492061"/>
            <a:ext cx="5309507" cy="3297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1511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E656F4-C080-0A4A-9BEE-B9EEE4592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ch6_1.py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：定義串列同時列印，最後使用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type( 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列出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資料型態。</a:t>
            </a: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3B65A52-90E1-2F62-395B-E33AAF393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528" y="3137694"/>
            <a:ext cx="8442943" cy="219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7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F1E4B-733E-584F-99DC-57AA93D05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6-1-2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：讀取串列元素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BAE263-0D2D-BD40-A64C-018F02F90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4800" algn="just">
              <a:spcAft>
                <a:spcPts val="0"/>
              </a:spcAft>
            </a:pP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name_list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[</a:t>
            </a: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]		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讀取索引</a:t>
            </a:r>
            <a:r>
              <a:rPr lang="en-US" altLang="zh-TW" sz="2800" kern="100" dirty="0" err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的串列元素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ch6_2.py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：讀取串列元素的應用。</a:t>
            </a: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7435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9C63DA9C-7452-3223-2357-FA1FE05DC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0" y="551458"/>
            <a:ext cx="4165600" cy="2473325"/>
          </a:xfrm>
          <a:prstGeom prst="rect">
            <a:avLst/>
          </a:prstGeom>
        </p:spPr>
      </p:pic>
      <p:pic>
        <p:nvPicPr>
          <p:cNvPr id="3" name="圖片 2" descr="../../../Downloads/p9-12.jpg">
            <a:extLst>
              <a:ext uri="{FF2B5EF4-FFF2-40B4-BE49-F238E27FC236}">
                <a16:creationId xmlns:a16="http://schemas.microsoft.com/office/drawing/2014/main" id="{B58E6F08-84B2-2589-2C0C-6C6F9051F56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200" y="3601243"/>
            <a:ext cx="6851650" cy="2473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629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077177-3CC9-B849-95B8-B3F906876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3771"/>
            <a:ext cx="10515600" cy="5393192"/>
          </a:xfrm>
        </p:spPr>
        <p:txBody>
          <a:bodyPr vert="horz" lIns="91440" tIns="45720" rIns="91440" bIns="45720" rtlCol="0">
            <a:normAutofit/>
          </a:bodyPr>
          <a:lstStyle/>
          <a:p>
            <a:pPr marL="304800" algn="just"/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ch6_3.py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：一個傳統處理串列元素內容方式，與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Python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多重指定觀念的應用。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04800" algn="just"/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04800" algn="just"/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04800" algn="just"/>
            <a:endParaRPr lang="zh-TW" altLang="en-US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D6D27-8A5E-12BF-B974-A6A312F51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199" y="2305050"/>
            <a:ext cx="7597531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66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40C840-3E90-F346-90D8-D0851AF9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6-1-3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：串列切片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(list slices)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20E12A-9DCB-9E41-AFA7-1224CCBEC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304800" algn="just"/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[start : end : step]</a:t>
            </a:r>
          </a:p>
          <a:p>
            <a:pPr marL="304800" algn="just"/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04800" algn="just"/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04800" algn="just"/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start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：起始索引，如果省略表示從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開始的所有元素。</a:t>
            </a:r>
          </a:p>
          <a:p>
            <a:pPr marL="304800" algn="just"/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end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：終止索引，如果省略表示到末端的所有元素，如果有索引則是不含此索引的元素。</a:t>
            </a:r>
          </a:p>
          <a:p>
            <a:pPr marL="304800" algn="just"/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step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：用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step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作為每隔多少區間再讀取。</a:t>
            </a:r>
          </a:p>
          <a:p>
            <a:pPr marL="304800" algn="just"/>
            <a:endParaRPr lang="zh-TW" altLang="en-US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50A4FCD-8D4E-6A64-7506-99FE20A41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677" y="2451685"/>
            <a:ext cx="6176645" cy="117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98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D21210-D19C-4C6B-6CE0-DABCE61F3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0550"/>
            <a:ext cx="10515600" cy="5586413"/>
          </a:xfrm>
        </p:spPr>
        <p:txBody>
          <a:bodyPr vert="horz" lIns="91440" tIns="45720" rIns="91440" bIns="45720" rtlCol="0">
            <a:normAutofit/>
          </a:bodyPr>
          <a:lstStyle/>
          <a:p>
            <a:pPr marL="304800" algn="just"/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在上述觀念下，假設串列名稱是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，相關的應用解說如下： </a:t>
            </a:r>
          </a:p>
          <a:p>
            <a:pPr marL="304800" algn="just"/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x[</a:t>
            </a: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start:end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]	#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讀取從索引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start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到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end-1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索引的串列元素</a:t>
            </a:r>
          </a:p>
          <a:p>
            <a:pPr marL="304800" algn="just"/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 [:end]		#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取得串列最前面到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end-1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名</a:t>
            </a:r>
          </a:p>
          <a:p>
            <a:pPr marL="304800" algn="just"/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 [:-n]		#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取得串列前面，不含最後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名</a:t>
            </a:r>
          </a:p>
          <a:p>
            <a:pPr marL="304800" algn="just"/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 [start:]		#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取得串列索引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start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到最後</a:t>
            </a:r>
          </a:p>
          <a:p>
            <a:pPr marL="304800" algn="just"/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 [-n:]		#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取得串列後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名</a:t>
            </a:r>
          </a:p>
          <a:p>
            <a:pPr marL="304800" algn="just"/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 [:]			#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取得所有元素，可以參考下列程式第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列 </a:t>
            </a:r>
          </a:p>
          <a:p>
            <a:pPr marL="304800" algn="just"/>
            <a:endParaRPr lang="zh-TW" altLang="en-US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5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C862BA-1C1A-4DC2-1BF5-074709A6B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1950"/>
            <a:ext cx="10515600" cy="58150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ch6_4.py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：串列切片的應用。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FB09818-6D51-CC17-AFBE-7ABAC5B6F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070" y="1031396"/>
            <a:ext cx="7575859" cy="479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52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586858-24C0-A141-8B17-246E30E5F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0486"/>
            <a:ext cx="10515600" cy="5556477"/>
          </a:xfrm>
        </p:spPr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ch6_5.py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：列出球隊前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名隊員、從索引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到最後隊員與後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名隊員子串列。</a:t>
            </a: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3CBD5776-3B89-B8B1-F3E8-C1688385D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" y="2712923"/>
            <a:ext cx="9359900" cy="140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79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E9F583-3B68-C541-AA85-F93DCE22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6-1-4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：串列統計資料函數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5C0D53-B497-1147-9E43-49E1FCAD7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max(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函數：獲得串列的最大值。</a:t>
            </a:r>
          </a:p>
          <a:p>
            <a:pPr algn="just"/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min(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函數：可以獲得串列的最小值。</a:t>
            </a:r>
          </a:p>
          <a:p>
            <a:pPr algn="just"/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sum(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函數：可以獲得串列的總和。</a:t>
            </a:r>
          </a:p>
          <a:p>
            <a:pPr algn="just"/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800" kern="100" dirty="0" err="1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len</a:t>
            </a: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函數：回傳串列元素個數。</a:t>
            </a:r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022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A93218-1A81-514E-94CE-A98DEDF5E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8650"/>
            <a:ext cx="10515600" cy="5548313"/>
          </a:xfrm>
        </p:spPr>
        <p:txBody>
          <a:bodyPr>
            <a:normAutofit/>
          </a:bodyPr>
          <a:lstStyle/>
          <a:p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ch6_6.py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：計算</a:t>
            </a:r>
            <a:r>
              <a:rPr lang="en-US" altLang="zh-TW" sz="28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james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球員本季至今比賽場次，這些場次的最高得分、最低得分和得分總計。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9C026ED-C875-82D1-08FA-6CB336A9B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650" y="2070100"/>
            <a:ext cx="4267200" cy="241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65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24276D-8D4A-F076-135A-6D757A07B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4350"/>
            <a:ext cx="10515600" cy="5662613"/>
          </a:xfrm>
        </p:spPr>
        <p:txBody>
          <a:bodyPr/>
          <a:lstStyle/>
          <a:p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ch6_7.py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：重新設計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ch6_6.py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，但是使用含字串元素的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James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3F575CE-3907-FCAA-3968-2BCE5D2E0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0" y="1962150"/>
            <a:ext cx="37719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12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6D8457-972A-DE49-AA83-6383DC22F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6-1-5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：更改串列元素的內容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E28A4A-F296-7541-815B-AC41FE5D2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ch6_8.py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：一家汽車經銷商原本可以銷售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Toyota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Nissan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Honda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，現在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Nissan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銷售權被回收，改成銷售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Ford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，可用下列方式設計銷售品牌。</a:t>
            </a: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A0B8294-2EED-D62C-1BC1-C22767662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3531394"/>
            <a:ext cx="8318799" cy="119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91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8E79BA-E022-9744-979A-200E151E2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6-1-6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：串列的相加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090B2D-2D33-0149-A526-11AB9FB59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ch6_9.py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：一家汽車經銷商原本可以銷售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Toyota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Nissan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Honda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，現在併購一家銷售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Audi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BMW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的經銷商，可用下列方式設計銷售品牌。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C7A7B0A-6893-0F77-D525-F13397D55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799" y="3753644"/>
            <a:ext cx="8274333" cy="93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5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A6BD45-AD62-6D19-F6E7-C87F4810D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8650"/>
            <a:ext cx="10515600" cy="5548313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ch6_10.py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：整數串列相加，結果元素重複出現實例。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F61A934-5D05-3281-1F58-524182B24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600" y="1968500"/>
            <a:ext cx="4846430" cy="83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34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A01039-62F6-2D4F-B3C8-C7DAAB2E3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6-1-7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：串列乘以一個數字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AEBF94-19F2-104A-AF62-A738ADB97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ch6_11.py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：將串列乘以數字的應用。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69BAEA2-0381-1577-2227-BFE90162C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375" y="3020695"/>
            <a:ext cx="8633600" cy="75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06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93C7A6-59E9-1142-A497-5A3A9CE8B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6-1-8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：刪除串列元素與串列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5E8053-BB1B-6947-A81A-BD57885F3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可以使用下列方式刪除指定索引的串列元素：</a:t>
            </a:r>
          </a:p>
          <a:p>
            <a:pPr marL="304800" algn="just"/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del x[</a:t>
            </a:r>
            <a:r>
              <a:rPr lang="en-US" altLang="zh-TW" sz="28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]		 	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刪除索引</a:t>
            </a:r>
            <a:r>
              <a:rPr lang="en-US" altLang="zh-TW" sz="2800" kern="100" dirty="0" err="1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的元素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下列是刪除串列區間元素。</a:t>
            </a:r>
          </a:p>
          <a:p>
            <a:pPr marL="304800" algn="just"/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del x[</a:t>
            </a:r>
            <a:r>
              <a:rPr lang="en-US" altLang="zh-TW" sz="28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start:end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]		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刪除從索引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start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到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(end-1)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索引的元素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下列是刪除區間，但是用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step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作為每隔多少區間再刪除。</a:t>
            </a:r>
            <a:endParaRPr lang="en-US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del x[</a:t>
            </a:r>
            <a:r>
              <a:rPr lang="en-US" altLang="zh-TW" sz="28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start:end:step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]    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每隔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step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刪除索引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start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到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(end-1)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的元素</a:t>
            </a:r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4764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5C4F3E-48F4-0E75-C4E9-FCE43A37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2450"/>
            <a:ext cx="10515600" cy="5624513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ch6_12.py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：如果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NBA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勇士隊主將陣容有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名，其中一名隊員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Bell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離隊了，可用下列方式設計。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6B9F234-18F6-CBBE-56B5-2EE47A925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749" y="2195194"/>
            <a:ext cx="10249853" cy="87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3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6C8B05-0694-5C41-8D16-AA647F94E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3900"/>
            <a:ext cx="10515600" cy="5453063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ch6_13.py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：刪除串列元素的應用。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7566D08-E84A-1703-6542-474003FC9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900" y="1816100"/>
            <a:ext cx="8399480" cy="269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38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3872ED-5771-A54C-93AA-76B20127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6-1-9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：串列為空串列的判斷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BA93A9-A29C-8A47-9F67-FCCACD3C4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4800" algn="just">
              <a:spcAft>
                <a:spcPts val="0"/>
              </a:spcAft>
            </a:pP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name_list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= [ ]			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這是空的串列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ch6_14.py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：刪除串列元素的應用，這個程式基本上會用</a:t>
            </a:r>
            <a:r>
              <a:rPr lang="en-US" altLang="zh-TW" sz="28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len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函數判斷串列內是否有元素資料，如果有則刪除索引為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的元素，如果沒有則列出串列內沒有元素了。讀者可以比較第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和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12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列的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if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敘述寫法，第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12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列是比較符合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PEP 8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風格。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1607459-DEA8-1CCD-1124-0974F87D6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823" y="4249271"/>
            <a:ext cx="3676650" cy="208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510985-E0F9-5748-88B6-E8E3364D9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6-2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簡單的物件導向觀念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ECC958-AF72-7C40-A2EE-5AC651324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基本語法格式如下：</a:t>
            </a:r>
          </a:p>
          <a:p>
            <a:pPr marL="304800" algn="just"/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物件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方法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19448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623CF-2557-FB7F-D295-DEABBE752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5300"/>
            <a:ext cx="10515600" cy="5681663"/>
          </a:xfrm>
        </p:spPr>
        <p:txBody>
          <a:bodyPr>
            <a:normAutofit fontScale="77500" lnSpcReduction="20000"/>
          </a:bodyPr>
          <a:lstStyle/>
          <a:p>
            <a:pPr marL="342900" lvl="0" indent="-342900" algn="just">
              <a:buFont typeface="Wingdings" pitchFamily="2" charset="2"/>
              <a:buChar char=""/>
            </a:pPr>
            <a:r>
              <a:rPr lang="zh-TW" altLang="zh-TW" sz="2800" b="1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串列內容是字串的常用方法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lower(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：將字串轉成小寫字。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(6-3-1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upper(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：將字串轉成大寫字。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(6-3-1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title(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：將字串轉成第一個字母大寫，其它是小寫。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(6-3-1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 err="1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swapcase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：將字串所有大寫改小寫，所有小寫改大寫。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(6-3-1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 err="1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rstrip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：刪除字串尾端多餘的空白。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(6-3-2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 err="1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lstrip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：刪除字串開始端多餘的空白。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(6-3-2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strip( )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刪除字串頭尾兩邊多餘的空白。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(6-3-2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center( )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：字串在指定寬度置中對齊。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(6-3-3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 err="1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rjust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：字串在指定寬度靠右對齊。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(6-3-3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 err="1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ljust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：字串在指定寬度靠左對齊。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(6-3-3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 err="1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zfill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可以設定字串長度，原字串靠右對齊，左邊多餘空間補</a:t>
            </a:r>
            <a:r>
              <a:rPr lang="en-US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</a:t>
            </a:r>
            <a:r>
              <a:rPr lang="zh-TW" altLang="zh-TW" sz="2800" kern="10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(6-3-3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440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FDFC0E-45B5-667B-CA6B-4D9745EAE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700"/>
            <a:ext cx="10515600" cy="5529263"/>
          </a:xfrm>
        </p:spPr>
        <p:txBody>
          <a:bodyPr/>
          <a:lstStyle/>
          <a:p>
            <a:pPr marL="342900" lvl="0" indent="-342900" algn="just">
              <a:buFont typeface="Wingdings" pitchFamily="2" charset="2"/>
              <a:buChar char=""/>
            </a:pPr>
            <a:r>
              <a:rPr lang="zh-TW" altLang="zh-TW" sz="2800" b="1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增加與刪除串列元素方法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append( )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在串列末端直接增加元素。</a:t>
            </a: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(6-4-1</a:t>
            </a:r>
            <a:r>
              <a:rPr lang="zh-TW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insert(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：在串列任意位置插入元素。</a:t>
            </a: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(6-4-2</a:t>
            </a:r>
            <a:r>
              <a:rPr lang="zh-TW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pop(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：刪除串列末端或是指定的元素。</a:t>
            </a: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(6-4-3</a:t>
            </a:r>
            <a:r>
              <a:rPr lang="zh-TW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remove(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：刪除串列指定的元素。</a:t>
            </a: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(6-4-4</a:t>
            </a:r>
            <a:r>
              <a:rPr lang="zh-TW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234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AB80A0-9396-D20D-E4B3-1D95AF642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6250"/>
            <a:ext cx="10515600" cy="5700713"/>
          </a:xfrm>
        </p:spPr>
        <p:txBody>
          <a:bodyPr/>
          <a:lstStyle/>
          <a:p>
            <a:pPr marL="342900" lvl="0" indent="-342900" algn="just">
              <a:buFont typeface="Wingdings" pitchFamily="2" charset="2"/>
              <a:buChar char=""/>
            </a:pPr>
            <a:r>
              <a:rPr lang="zh-TW" altLang="zh-TW" sz="2800" b="1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串列的排序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reverse(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：顛倒排序串列元素。</a:t>
            </a: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(6-5-1</a:t>
            </a:r>
            <a:r>
              <a:rPr lang="zh-TW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sort(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：將串列元素排序。</a:t>
            </a: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(6-5-2</a:t>
            </a:r>
            <a:r>
              <a:rPr lang="zh-TW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sorted(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：新串列儲存新的排序串列。</a:t>
            </a: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(6-5-3</a:t>
            </a:r>
            <a:r>
              <a:rPr lang="zh-TW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 marL="342900" lvl="0" indent="-342900" algn="just">
              <a:buFont typeface="Wingdings" pitchFamily="2" charset="2"/>
              <a:buChar char=""/>
            </a:pPr>
            <a:endParaRPr lang="en-US" altLang="zh-TW" sz="2800" kern="100" dirty="0">
              <a:solidFill>
                <a:srgbClr val="2E74B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"/>
            </a:pPr>
            <a:r>
              <a:rPr lang="zh-TW" altLang="zh-TW" sz="2800" b="1" kern="100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進階串列操作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>
                <a:solidFill>
                  <a:srgbClr val="2E74B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index( 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：傳回特定元素內容第一次出現的索引值。</a:t>
            </a:r>
            <a:r>
              <a:rPr lang="en-US" altLang="zh-TW" sz="2800" kern="100" dirty="0">
                <a:solidFill>
                  <a:srgbClr val="2E74B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(6-6-1</a:t>
            </a:r>
            <a:r>
              <a:rPr lang="zh-TW" altLang="zh-TW" sz="2800" kern="100" dirty="0">
                <a:solidFill>
                  <a:srgbClr val="2E74B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2E74B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r>
              <a:rPr lang="en-US" altLang="zh-TW" sz="2800" kern="100" dirty="0">
                <a:solidFill>
                  <a:srgbClr val="2E74B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count( 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：傳回特定元素內容出現的次數。</a:t>
            </a:r>
            <a:r>
              <a:rPr lang="en-US" altLang="zh-TW" sz="2800" kern="100" dirty="0">
                <a:solidFill>
                  <a:srgbClr val="2E74B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(6-6-2</a:t>
            </a:r>
            <a:r>
              <a:rPr lang="zh-TW" altLang="zh-TW" sz="2800" kern="100" dirty="0">
                <a:solidFill>
                  <a:srgbClr val="2E74B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節</a:t>
            </a:r>
            <a:r>
              <a:rPr lang="en-US" altLang="zh-TW" sz="2800" kern="100" dirty="0">
                <a:solidFill>
                  <a:srgbClr val="2E74B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itchFamily="2" charset="2"/>
              <a:buChar char=""/>
            </a:pP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0470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BF3684-EA80-50FF-47AA-2FC8D8B5E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0550"/>
            <a:ext cx="10515600" cy="5586413"/>
          </a:xfrm>
        </p:spPr>
        <p:txBody>
          <a:bodyPr/>
          <a:lstStyle/>
          <a:p>
            <a:pPr algn="just"/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6-2-1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：取得串列的方法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如果想獲得字串串列的方法，可以使用</a:t>
            </a:r>
            <a:r>
              <a:rPr lang="en-US" altLang="zh-TW" sz="2800" kern="100" dirty="0" err="1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dir</a:t>
            </a:r>
            <a:r>
              <a:rPr lang="en-US" altLang="zh-TW" sz="2800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函數。</a:t>
            </a:r>
          </a:p>
          <a:p>
            <a:pPr algn="just"/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：列出串列元素是數字的方法。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0563409-3ADF-46F4-E2EF-988156B47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599" y="2527300"/>
            <a:ext cx="8521885" cy="217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29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97B80D-014B-2BB0-9C49-E441F6AAE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：列出串列元素是字串的方法。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12BE3C8-48E1-88BB-1252-B5F082362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750" y="1625600"/>
            <a:ext cx="9779000" cy="344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14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../../../Downloads/p2.jpg">
            <a:extLst>
              <a:ext uri="{FF2B5EF4-FFF2-40B4-BE49-F238E27FC236}">
                <a16:creationId xmlns:a16="http://schemas.microsoft.com/office/drawing/2014/main" id="{05B6881F-FE7C-304B-BFF4-D8F8F0C5BD66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"/>
          <a:stretch/>
        </p:blipFill>
        <p:spPr bwMode="auto">
          <a:xfrm>
            <a:off x="1175657" y="1629681"/>
            <a:ext cx="8784772" cy="338318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19574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CB4135-280C-E2D5-8EFC-C15B71271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2450"/>
            <a:ext cx="10515600" cy="5624513"/>
          </a:xfrm>
        </p:spPr>
        <p:txBody>
          <a:bodyPr/>
          <a:lstStyle/>
          <a:p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6-2-2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：了解特定方法的使用說明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可以用下列方式：</a:t>
            </a:r>
          </a:p>
          <a:p>
            <a:pPr marL="304800" algn="just"/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help(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物件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方法名稱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：列出物件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，內建</a:t>
            </a:r>
            <a:r>
              <a:rPr lang="en-US" altLang="zh-TW" sz="28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isupper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方法的使用說明。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28A5F82-FD1C-ACF4-E7D4-6714D344E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171" y="3364706"/>
            <a:ext cx="9521658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70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F571DC-0995-DCD7-29F3-47A9977D8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0550"/>
            <a:ext cx="10515600" cy="5586413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：列出整數物件的方法，同樣可以先設定一個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整數變數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，再列出此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整數變數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方法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(method)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6CE543D-074C-1135-39AF-9DFB80401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750" y="1971674"/>
            <a:ext cx="9817100" cy="342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37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62A5FA-3AF1-F080-2884-74EE940F7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5800"/>
            <a:ext cx="10515600" cy="5491163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：列出需要多少位元，儲存整數變數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num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22BB998-7DB9-06C3-9811-DA17F024E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377" y="1854200"/>
            <a:ext cx="4599623" cy="30323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1707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D1858E-5629-9C4E-5791-2EFC8585F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6-3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：串列元素是字串的常用方法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86C471-9B8E-9A0F-2479-71509293C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6-3-1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：更改字串大小寫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lower( )/upper( )/title( )/</a:t>
            </a:r>
            <a:r>
              <a:rPr lang="en-US" altLang="zh-TW" sz="2800" b="1" kern="100" dirty="0" err="1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swapcase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ch6_15.py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：將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upper(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和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title(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應用在字串。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6B82AE5-9549-BD5F-3F22-4ECFA6A74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20" y="3504223"/>
            <a:ext cx="3784257" cy="111125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50D03FD-0428-AC97-39FC-6FC946623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685" y="3504223"/>
            <a:ext cx="2788251" cy="1215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圖片 5" descr="../../../Desktop/螢幕快照%202018-10-17%20下午9.43.27.pn">
            <a:extLst>
              <a:ext uri="{FF2B5EF4-FFF2-40B4-BE49-F238E27FC236}">
                <a16:creationId xmlns:a16="http://schemas.microsoft.com/office/drawing/2014/main" id="{D9FC2EFE-ACFD-B9C6-24A6-D9EEE8B391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775" y="5439068"/>
            <a:ext cx="3427589" cy="937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27A15A3-3EC8-4F9F-8D1B-BBFADD5879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908" y="5439068"/>
            <a:ext cx="2636938" cy="9375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5656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B1B823-A650-93FA-C859-0A4FDEB6A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6250"/>
            <a:ext cx="10515600" cy="5700713"/>
          </a:xfrm>
        </p:spPr>
        <p:txBody>
          <a:bodyPr/>
          <a:lstStyle/>
          <a:p>
            <a:pPr algn="just"/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6-3-2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：刪除空白字元</a:t>
            </a:r>
            <a:r>
              <a:rPr lang="en-US" altLang="zh-TW" sz="2800" b="1" kern="100" dirty="0" err="1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rstrip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)/</a:t>
            </a:r>
            <a:r>
              <a:rPr lang="en-US" altLang="zh-TW" sz="2800" b="1" kern="100" dirty="0" err="1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lstrip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)/strip( 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ch6_16.py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：刪除開始端與結尾端多餘空白的應用。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85956B9-A8B5-4A27-D68D-8B38A6571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549" y="2044700"/>
            <a:ext cx="3275371" cy="16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5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B1583C-0189-3228-2811-56DCAFF43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700"/>
            <a:ext cx="10515600" cy="5529263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ch6_17.py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：活用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Python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的應用。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891944E-D115-DBE6-2A95-C47D70958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350" y="1778000"/>
            <a:ext cx="4654336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9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58CE9E-C2CD-F4CB-B017-05BACB354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700"/>
            <a:ext cx="10515600" cy="5529263"/>
          </a:xfrm>
        </p:spPr>
        <p:txBody>
          <a:bodyPr/>
          <a:lstStyle/>
          <a:p>
            <a:pPr algn="just"/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6-3-3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：格式化字串位置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center( )/</a:t>
            </a:r>
            <a:r>
              <a:rPr lang="en-US" altLang="zh-TW" sz="2800" b="1" kern="100" dirty="0" err="1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ljust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)/</a:t>
            </a:r>
            <a:r>
              <a:rPr lang="en-US" altLang="zh-TW" sz="2800" b="1" kern="100" dirty="0" err="1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rjust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)/</a:t>
            </a:r>
            <a:r>
              <a:rPr lang="en-US" altLang="zh-TW" sz="2800" b="1" kern="100" dirty="0" err="1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zfill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這幾個算是格式化字串功能，我們可以給一定的字串長度空間，然後可以看到字串分別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置中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(center)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靠左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en-US" altLang="zh-TW" sz="28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ljust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靠右</a:t>
            </a:r>
            <a:r>
              <a:rPr lang="en-US" altLang="zh-TW" sz="28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rjust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對齊。</a:t>
            </a:r>
          </a:p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ch6_18.py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：格式化字串位置的應用。</a:t>
            </a:r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55FDDEE-5481-FB2F-C7C5-89E434A74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075" y="3483706"/>
            <a:ext cx="8197850" cy="162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23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8A35F6-493D-9142-AD3F-51708E431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6-4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：增加與刪除串列元素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2DF2B1-3B3A-0648-8D1A-247A62928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6-4-1</a:t>
            </a:r>
            <a:r>
              <a:rPr lang="zh-TW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：在串列末端增加元素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append( )</a:t>
            </a:r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ch6_19.py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：先建立一個空串列，然後分別使用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append( 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增加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筆元素內容。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E4AED3D-F25F-9E14-0CD5-3861FFE90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268" y="3730198"/>
            <a:ext cx="6290437" cy="158035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637" y="3730198"/>
            <a:ext cx="4018631" cy="180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8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F2782C-D55C-B138-46A9-55E1E3D13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0550"/>
            <a:ext cx="10515600" cy="5586413"/>
          </a:xfrm>
        </p:spPr>
        <p:txBody>
          <a:bodyPr/>
          <a:lstStyle/>
          <a:p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有時候在程式設計時需預留串列空間，未來再使用</a:t>
            </a:r>
            <a:r>
              <a:rPr lang="zh-TW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賦值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方式將數值存入串列，可以使用下列方式處理。</a:t>
            </a:r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FA2798B-4A9E-C6FE-62B9-A8D44C196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219" y="1884974"/>
            <a:ext cx="3745066" cy="247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92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E03AF4-2DF6-B049-9E83-9828D631E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6-4-2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：插入串列元素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insert( )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4D37FD-E83D-444B-AE38-3D6D2918F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4800" algn="just">
              <a:spcAft>
                <a:spcPts val="0"/>
              </a:spcAft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insert(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索引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,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元素內容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  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索引是插入位置，元素內容是插入內容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ch6_20.py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：使用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insert( 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插入串列元素的應用。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875F7D2-073B-4412-E63F-D6B8C2C9B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479" y="4512408"/>
            <a:ext cx="8642103" cy="19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702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4BE56A-57B7-BD41-9725-59F9F442F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6-4-3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：刪除串列元素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pop( )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2629A2-E902-1046-AA23-BF6A999F3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value = </a:t>
            </a: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name_list.pop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  	 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沒有索引是刪除串列末端元素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value = </a:t>
            </a: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name_list.pop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 	 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是刪除指定索引值</a:t>
            </a:r>
            <a:r>
              <a:rPr lang="en-US" altLang="zh-TW" sz="2800" kern="100" dirty="0" err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位置的串列元素</a:t>
            </a:r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</a:t>
            </a:r>
            <a:r>
              <a:rPr lang="en-US" altLang="zh-Hant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21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：使用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pop( 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刪除串列元素的應用，這個程式第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行未指明刪除的索引值，所以刪除了串列的最後一個元素。程式第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行則是指明刪除索引為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位置的元素。</a:t>
            </a:r>
          </a:p>
          <a:p>
            <a:pPr algn="just">
              <a:spcAft>
                <a:spcPts val="0"/>
              </a:spcAft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210B3CB-38F8-7976-6303-AC46E1DAF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662" y="5150816"/>
            <a:ext cx="4937440" cy="170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75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34A387-46E8-AD47-882A-8A08F2895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6-4-4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：刪除指定的元素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remove( )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E3EF6D-E138-FD4E-ACAC-DB9D9265A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4800" algn="just">
              <a:spcAft>
                <a:spcPts val="0"/>
              </a:spcAft>
            </a:pP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name_list.remove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想刪除的元素內容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ch6_22.py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：刪除串列中第一次出現的元素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bmw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，這個串列有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筆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bmw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字串，最後只刪除索引為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位置的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bmw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字串。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76C8A71-6C33-742F-4E6D-B8B88A65E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0" y="4580792"/>
            <a:ext cx="8108950" cy="155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7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24B842-CAA7-CF4C-B188-F198C0888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6-5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：串列的排序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CB5FC2-0BB6-6B44-B743-2EA46439D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6-5-1</a:t>
            </a:r>
            <a:r>
              <a:rPr lang="zh-TW" altLang="zh-TW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：顛倒排序</a:t>
            </a:r>
            <a:r>
              <a:rPr lang="en-US" altLang="zh-TW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reverse( )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x.reverse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		</a:t>
            </a:r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顛倒排序</a:t>
            </a:r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x </a:t>
            </a:r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串列元素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也可以用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[::-1]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方式取得串列顛倒排序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ch6_23.py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：使用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種方式執行顛倒排序串列元素。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C3AD904-6C4B-3DE2-4A28-277ED3019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166" y="4653573"/>
            <a:ext cx="8191667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42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3198E5-9140-C145-B61C-9CCFD7A40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6-5-2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sort( )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排序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63BECF-D407-B34E-A6CF-83ED4BF61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x.sort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			</a:t>
            </a:r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由小到大排序</a:t>
            </a:r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x </a:t>
            </a:r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ch6_24.py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：數字與英文字串元素排序的應用。</a:t>
            </a: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sort( 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內增加參數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”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reverse=True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”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即可</a:t>
            </a:r>
            <a:r>
              <a:rPr lang="zh-Hant" altLang="en-US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允許由大排到小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45720" indent="0" algn="just">
              <a:spcAft>
                <a:spcPts val="0"/>
              </a:spcAft>
              <a:buNone/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A9A11A5-8BAE-D908-D25A-968E55AD2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377" y="3625796"/>
            <a:ext cx="7397994" cy="316469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372" y="3974123"/>
            <a:ext cx="2830347" cy="281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32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13D3DD-DD7A-1C41-955C-241EB994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6-5-3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sorted( )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排序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19034E-27B4-4045-9F34-9621F899B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4800" algn="just"/>
            <a:r>
              <a:rPr lang="en-US" altLang="zh-TW" sz="28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newx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= sorted(x, reverse=False)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用新串列儲存排序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</a:t>
            </a:r>
            <a:r>
              <a:rPr lang="en-US" altLang="zh-Hant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25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sorted( 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排序的應用，這個程式使用</a:t>
            </a: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car_sorted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新串列儲存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car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串列的排序結果，同時使用</a:t>
            </a: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num_sorted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新串列儲存</a:t>
            </a: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num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串列的排序結果。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071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A9EDCBC-7E50-2B6C-13F8-34AD7419B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956" y="1257300"/>
            <a:ext cx="7182043" cy="4141178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5" y="1257299"/>
            <a:ext cx="4820323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84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3A6E7A-D112-B84B-B5B7-3C307D0FE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6-6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：進階串列操作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9E2D2C-C322-D748-8342-EBD3AFBB2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6-6-1</a:t>
            </a:r>
            <a:r>
              <a:rPr lang="zh-TW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index( )</a:t>
            </a:r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04800" algn="just">
              <a:spcAft>
                <a:spcPts val="0"/>
              </a:spcAft>
            </a:pP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索引值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=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串列名稱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.index(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搜尋值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</a:t>
            </a:r>
            <a:r>
              <a:rPr lang="en-US" altLang="zh-Hant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26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：傳回搜尋索引值的應用。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EBF8010-1986-49E1-52EE-E934590C9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447" y="5464914"/>
            <a:ext cx="9012553" cy="138350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13" y="3626332"/>
            <a:ext cx="5458587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4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35C0A3-AC58-71AA-351F-001AEA652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0550"/>
            <a:ext cx="10515600" cy="5586413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ch6_27.py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：使用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ch6_7.py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的串列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James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，這個串列有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Lebron James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一系列比賽得分，由此串列請計算他在第幾場得最高分，同時列出所得分數。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E22930C-033A-8795-DA08-E345C043E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008" y="4692833"/>
            <a:ext cx="5695950" cy="730250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990" y="2181254"/>
            <a:ext cx="7329986" cy="17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22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974443-A8FE-8E46-9DAC-C69545243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6-6-2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count( )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16A7E5-A60C-C74D-89C0-62732FF3F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4800" algn="just">
              <a:spcAft>
                <a:spcPts val="0"/>
              </a:spcAft>
            </a:pP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次數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=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串列名稱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.count(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搜尋值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</a:t>
            </a:r>
            <a:r>
              <a:rPr lang="en-US" altLang="zh-Hant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28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：傳回搜尋值出現的次數的應用。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如果搜尋值不在串列會傳回</a:t>
            </a:r>
            <a:r>
              <a:rPr lang="en-US" altLang="zh-TW" sz="2800" kern="100" dirty="0"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0</a:t>
            </a:r>
            <a:r>
              <a:rPr lang="zh-TW" altLang="zh-TW" sz="2800" kern="100" dirty="0"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。</a:t>
            </a:r>
          </a:p>
          <a:p>
            <a:pPr algn="just">
              <a:spcAft>
                <a:spcPts val="0"/>
              </a:spcAft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3FC5CF6-3453-0F41-D911-89F45137D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113" y="3044367"/>
            <a:ext cx="4669948" cy="1015206"/>
          </a:xfrm>
          <a:prstGeom prst="rect">
            <a:avLst/>
          </a:prstGeom>
        </p:spPr>
      </p:pic>
      <p:pic>
        <p:nvPicPr>
          <p:cNvPr id="5" name="圖片 4" descr="../../../Desktop/螢幕快照%202018-10-20%20下午1.52.58.pn">
            <a:extLst>
              <a:ext uri="{FF2B5EF4-FFF2-40B4-BE49-F238E27FC236}">
                <a16:creationId xmlns:a16="http://schemas.microsoft.com/office/drawing/2014/main" id="{04E08E83-7370-EEA8-DCA6-D4125EC60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113" y="4974006"/>
            <a:ext cx="2597468" cy="1256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301" y="3044367"/>
            <a:ext cx="4677428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7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3BDF1C-78EB-304A-A53F-87E58CBE4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6-7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：串列內含串列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6BF71A-4ED4-B041-8A0C-2FCABEBD9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6-7-1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：基礎觀念與實作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04800" algn="just"/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num = [1, 2, 3, 4, 5, [6, 7, 8]]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04800" algn="just">
              <a:spcAft>
                <a:spcPts val="0"/>
              </a:spcAft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8C6D11A-6E56-C7A3-272B-D573CFB9F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0720" y="3411251"/>
            <a:ext cx="5297008" cy="11090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865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93C982-02FC-F02E-CA54-5035735E8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3400"/>
            <a:ext cx="10515600" cy="5643563"/>
          </a:xfrm>
        </p:spPr>
        <p:txBody>
          <a:bodyPr/>
          <a:lstStyle/>
          <a:p>
            <a:pPr marL="304800" algn="just"/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如果想要存取串列內的串列元素，可以使用下列格式：</a:t>
            </a:r>
          </a:p>
          <a:p>
            <a:pPr marL="304800" algn="just"/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num[</a:t>
            </a:r>
            <a:r>
              <a:rPr lang="zh-TW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索引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][</a:t>
            </a:r>
            <a:r>
              <a:rPr lang="zh-TW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索引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]	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04800" algn="just"/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索引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是元素串列原先索引位置，索引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是元素串列內部的索引。</a:t>
            </a:r>
          </a:p>
          <a:p>
            <a:pPr algn="just"/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：列出串列內的串列元素值。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F024B7E-E316-2A3A-2E6C-F75DBB4E8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039" y="3049758"/>
            <a:ext cx="5067994" cy="20497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527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FD52B4-0EC5-C04E-904F-F5111F71C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3418"/>
            <a:ext cx="10515600" cy="5491163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ch6_29.py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：擴充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ch6_27.py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先列出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Lebron James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個人資料再計算那一個場次得到最高分。程式第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列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’SF’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全名是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Small Forward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小前鋒。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A4774A5-EE2D-00B9-E1C1-AF3AB2B27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546" y="2022446"/>
            <a:ext cx="9955120" cy="255834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004E25A-6EF6-B3B6-E809-A6FA609CC0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467" y="4881685"/>
            <a:ext cx="4363065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4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03B27B-BCAF-F442-AAEB-A0251D783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>
                <a:latin typeface="微軟正黑體" panose="020B0604030504040204" pitchFamily="34" charset="-120"/>
                <a:ea typeface="微軟正黑體" panose="020B0604030504040204" pitchFamily="34" charset="-120"/>
              </a:rPr>
              <a:t>6-7-2</a:t>
            </a:r>
            <a:r>
              <a:rPr lang="zh-TW" altLang="zh-TW" sz="400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二維串列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ED970EF2-C4CA-D84C-8E5F-6075C6216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4343" y="1822572"/>
            <a:ext cx="6923314" cy="4687660"/>
          </a:xfrm>
        </p:spPr>
      </p:pic>
    </p:spTree>
    <p:extLst>
      <p:ext uri="{BB962C8B-B14F-4D97-AF65-F5344CB8AC3E}">
        <p14:creationId xmlns:p14="http://schemas.microsoft.com/office/powerpoint/2010/main" val="116190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AD7FBB-0F02-F844-B9FA-1C83FBB8D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sc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[[‘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洪錦魁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’, 80, 95, 88, 0],</a:t>
            </a:r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zh-Hant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[‘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洪冰儒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’, 98, 97, 96, 0],</a:t>
            </a:r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zh-Hant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[‘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洪雨星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’, 90, 91, 92, 0],</a:t>
            </a:r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zh-Hant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[‘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洪冰雨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’, 91, 93, 95, 0],</a:t>
            </a:r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zh-Hant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[‘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洪星宇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’, 92, 97, 90, 0],</a:t>
            </a:r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3C013C9-7F05-6244-A833-990DE95B8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128" y="3065340"/>
            <a:ext cx="5325836" cy="349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638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308B14-AFBA-BD41-8A4D-F1C77EAEF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</a:t>
            </a:r>
            <a:r>
              <a:rPr lang="en-US" altLang="zh-Hant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30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：二維串列的成績系統總分計算。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CA5A1AE-C3C3-7945-6ED2-B443AF0C5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858" y="4262804"/>
            <a:ext cx="6500283" cy="140970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241" y="1707418"/>
            <a:ext cx="4861518" cy="238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02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521BEB-FFE1-9047-9D12-6538513C6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6-8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：串列的賦值與切片拷貝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C5A2D4-1F7B-1F43-AA82-09F5733D5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en-US" altLang="zh-TW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6-8-1</a:t>
            </a:r>
            <a:r>
              <a:rPr lang="zh-TW" altLang="zh-TW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：串列賦值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</a:t>
            </a:r>
            <a:r>
              <a:rPr lang="en-US" altLang="zh-Hant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31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zh-TW" sz="28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我加入美式足球</a:t>
            </a:r>
            <a:r>
              <a:rPr lang="en-US" altLang="zh-TW" sz="28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football</a:t>
            </a:r>
            <a:r>
              <a:rPr lang="zh-TW" altLang="zh-TW" sz="28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當作喜歡的運動，我的朋友想加入傳統足球</a:t>
            </a:r>
            <a:r>
              <a:rPr lang="en-US" altLang="zh-TW" sz="28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soccer</a:t>
            </a:r>
            <a:r>
              <a:rPr lang="zh-TW" altLang="zh-TW" sz="28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當作喜歡的運動，同時列出執行結果。</a:t>
            </a:r>
            <a:r>
              <a:rPr lang="zh-TW" altLang="zh-TW" sz="28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9FB9A7C-49C2-C819-38A3-7707F60D3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4001294"/>
            <a:ext cx="9192542" cy="142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6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9EBA03-0288-5E41-918B-FDBB60844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6-8-2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：串列的切片拷貝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036C93-19DE-EC46-835E-91EDE5803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切片拷貝</a:t>
            </a:r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(copy)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觀念是，執行拷貝後</a:t>
            </a:r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產生新串列物件，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當一個串列改變後，不會影響另一個串列的內容，這是本小節的重點。方法應該如下：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04800" algn="just"/>
            <a:r>
              <a:rPr lang="en-US" altLang="zh-TW" sz="28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friendsports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= </a:t>
            </a:r>
            <a:r>
              <a:rPr lang="en-US" altLang="zh-TW" sz="28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mysports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[ : ]		# 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切片拷貝</a:t>
            </a:r>
          </a:p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ch6_32.py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：使用拷貝方式，重新設計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ch6_31.py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。下列是與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ch6_35.py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之間，唯一不同的程式碼。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0840137-A6E3-FAE9-BFCE-803AD7541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375" y="4867518"/>
            <a:ext cx="8223250" cy="147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E97DAC-00F7-1740-8463-C57881D4D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6-9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：再談字串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B6482B-20CB-AA41-B31A-4258D2850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6-9-1</a:t>
            </a:r>
            <a:r>
              <a:rPr lang="zh-TW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：字串的索引</a:t>
            </a:r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</a:t>
            </a:r>
            <a:r>
              <a:rPr lang="en-US" altLang="zh-Hant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33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：使用正值與負值的索引列出字串元素內容。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5599593-A7A1-3293-8500-86F17DF4C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197" y="3245644"/>
            <a:ext cx="3859605" cy="256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059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677C46-E40C-4540-87F7-A34EAD5DD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2450"/>
            <a:ext cx="10515600" cy="5624513"/>
          </a:xfrm>
        </p:spPr>
        <p:txBody>
          <a:bodyPr/>
          <a:lstStyle/>
          <a:p>
            <a:pPr algn="just"/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6-9-2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2800" b="1" kern="100" dirty="0" err="1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islower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()/</a:t>
            </a:r>
            <a:r>
              <a:rPr lang="en-US" altLang="zh-TW" sz="2800" b="1" kern="100" dirty="0" err="1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isupper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()/</a:t>
            </a:r>
            <a:r>
              <a:rPr lang="en-US" altLang="zh-TW" sz="2800" b="1" kern="100" dirty="0" err="1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isdigit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()/</a:t>
            </a:r>
            <a:r>
              <a:rPr lang="en-US" altLang="zh-TW" sz="2800" b="1" kern="100" dirty="0" err="1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isalpha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()/</a:t>
            </a:r>
            <a:r>
              <a:rPr lang="en-US" altLang="zh-TW" sz="2800" b="1" kern="100" dirty="0" err="1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isalnum</a:t>
            </a:r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：列出字串是否全部大寫？是否全部小寫？是否全部數字組成？是否全部英文字母組成？可以參考下方左圖。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525B026-5A8A-57FE-35E4-000D3EC42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724" y="2279650"/>
            <a:ext cx="6045507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42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22611C-1EAD-D448-9A7D-0B425ADB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6-9-3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：字串切片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B84BC9-3225-B149-A643-8B86976D9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ch6_34.py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：字串切片的應用。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4837D3A-B862-7325-D9BF-0F510B559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250" y="2882900"/>
            <a:ext cx="8517266" cy="273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78CC19-8027-6A48-BB6D-F583EDBFD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6-9-4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：將字串轉成串列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55F00D9C-9875-163B-7238-2E879C1730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100" y="2121694"/>
            <a:ext cx="8811220" cy="283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69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B42FA6-273F-6A44-9B4C-F7C3C6F4B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6-9-5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：使用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split( )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分割字串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559E37-BED4-A045-91C1-B7ABED416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str1.split( )		# 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以空格當做分隔符號將字串拆開成串列</a:t>
            </a:r>
          </a:p>
          <a:p>
            <a:pPr marL="0" indent="0">
              <a:buNone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str2.split(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ch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		# 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ch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字元當做分隔符號將字串拆開成串列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ch6_35.py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：將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種不同類型的字串轉成串列，其中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str1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使用空格當做分隔符號，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str2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使用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”\”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當做分隔符號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因為這是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逸出字元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，所以使用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\\)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，同時這個程式會列出這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個串列的元素數量。</a:t>
            </a:r>
          </a:p>
          <a:p>
            <a:pPr marL="0" indent="0">
              <a:buNone/>
            </a:pPr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B1A9F54-6A96-EA8F-CA71-B5454C2B4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377" y="5220677"/>
            <a:ext cx="9785246" cy="149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8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05BF7F-6D5D-5145-8B60-468BCE33A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6-9-6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：串列元素的組合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join( )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1CF547-0BE3-ED4F-86E2-8A9CE53C9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kern="1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2800" kern="1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連接字串</a:t>
            </a:r>
            <a:r>
              <a:rPr lang="en-US" altLang="zh-TW" sz="2800" kern="1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.join(</a:t>
            </a:r>
            <a:r>
              <a:rPr lang="zh-TW" altLang="zh-TW" sz="2800" kern="1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</a:t>
            </a:r>
            <a:r>
              <a:rPr lang="en-US" altLang="zh-TW" sz="2800" kern="1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ch6_36.py</a:t>
            </a:r>
            <a:r>
              <a:rPr lang="zh-TW" altLang="zh-TW" sz="2800" kern="1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：將串列內容連接。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F404C4B-D16D-09B3-1BC3-7929C10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449" y="3206750"/>
            <a:ext cx="4904377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2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EB938F-23E7-241A-135E-D44418AA3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3400"/>
            <a:ext cx="10515600" cy="56435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6-9-7</a:t>
            </a:r>
            <a:r>
              <a:rPr lang="zh-TW" altLang="zh-TW" sz="2800" b="1" kern="100" dirty="0">
                <a:solidFill>
                  <a:srgbClr val="806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：子字串搜尋與索引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相關參數如下：</a:t>
            </a:r>
          </a:p>
          <a:p>
            <a:pPr algn="just"/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find(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：從</a:t>
            </a:r>
            <a:r>
              <a:rPr lang="zh-TW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頭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找尋子字串如果找到回傳第一次出現索引，如果沒找到回傳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-1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en-US" altLang="zh-TW" sz="2800" kern="100" dirty="0" err="1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rfind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：從</a:t>
            </a:r>
            <a:r>
              <a:rPr lang="zh-TW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尾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找尋子字串如果找到回傳最後出現索引，如果沒找到回傳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-1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index(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：從</a:t>
            </a:r>
            <a:r>
              <a:rPr lang="zh-TW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頭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找尋子字串如果找到回傳第一次出現索引，如果沒找到產生例外錯誤。</a:t>
            </a:r>
          </a:p>
          <a:p>
            <a:pPr algn="just"/>
            <a:r>
              <a:rPr lang="en-US" altLang="zh-TW" sz="2800" kern="100" dirty="0" err="1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rindex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：從</a:t>
            </a:r>
            <a:r>
              <a:rPr lang="zh-TW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尾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找尋子字串如果找到回傳最後出現索引，如果沒找到產生例外錯誤。</a:t>
            </a:r>
          </a:p>
          <a:p>
            <a:pPr algn="just"/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count(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：列出子字串出現次數。</a:t>
            </a:r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0239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5E8873-51BB-FE26-4D61-9E165D938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9100"/>
            <a:ext cx="10515600" cy="5757863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find(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和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index(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的應用。</a:t>
            </a:r>
            <a:endParaRPr lang="en-US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endParaRPr lang="en-US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endParaRPr lang="en-US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solidFill>
                  <a:srgbClr val="4472C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kern="100" dirty="0">
                <a:solidFill>
                  <a:srgbClr val="4472C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2800" kern="100" dirty="0" err="1">
                <a:solidFill>
                  <a:srgbClr val="4472C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rfind</a:t>
            </a:r>
            <a:r>
              <a:rPr lang="en-US" altLang="zh-TW" sz="2800" kern="100" dirty="0">
                <a:solidFill>
                  <a:srgbClr val="4472C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和</a:t>
            </a:r>
            <a:r>
              <a:rPr lang="en-US" altLang="zh-TW" sz="2800" kern="100" dirty="0" err="1">
                <a:solidFill>
                  <a:srgbClr val="4472C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rindex</a:t>
            </a:r>
            <a:r>
              <a:rPr lang="en-US" altLang="zh-TW" sz="2800" kern="100" dirty="0">
                <a:solidFill>
                  <a:srgbClr val="4472C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的應用。</a:t>
            </a:r>
          </a:p>
          <a:p>
            <a:pPr algn="just"/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8B345B7-D1DC-5259-9785-1C9ABCE55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749" y="1412874"/>
            <a:ext cx="6377889" cy="178752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2DCBDF6-1089-C572-B3A0-33F98B1BD6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749" y="4271351"/>
            <a:ext cx="3565413" cy="154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21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754C17-4C53-DA96-ADD3-2389D2850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2450"/>
            <a:ext cx="10515600" cy="5624513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2800" kern="100" dirty="0">
                <a:solidFill>
                  <a:srgbClr val="4472C4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count(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的應用。</a:t>
            </a:r>
            <a:endParaRPr lang="en-US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endParaRPr lang="en-US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solidFill>
                  <a:srgbClr val="4472C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實例</a:t>
            </a:r>
            <a:r>
              <a:rPr lang="en-US" altLang="zh-TW" sz="2800" kern="100" dirty="0">
                <a:solidFill>
                  <a:srgbClr val="4472C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：如果找不到時，</a:t>
            </a:r>
            <a:r>
              <a:rPr lang="en-US" altLang="zh-TW" sz="2800" kern="100" dirty="0">
                <a:solidFill>
                  <a:srgbClr val="4472C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find( 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和</a:t>
            </a:r>
            <a:r>
              <a:rPr lang="en-US" altLang="zh-TW" sz="2800" kern="100" dirty="0">
                <a:solidFill>
                  <a:srgbClr val="4472C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index( 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的差異。</a:t>
            </a:r>
          </a:p>
          <a:p>
            <a:pPr algn="just"/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1905E99-5073-AACF-A69C-838CBE5FC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549" y="1524000"/>
            <a:ext cx="4590143" cy="104775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BC577F1-4DA4-5904-2349-7DA1E42575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549" y="3792415"/>
            <a:ext cx="6578203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9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E6551A-F1E6-8A4A-8378-A8CE02CD7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6-9-8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：字串的其它方法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48CB55-4761-2E49-B9A4-393196EB0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startswith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 )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：可以列出字串啟始文字是否是特定子字串。</a:t>
            </a:r>
          </a:p>
          <a:p>
            <a:pPr lvl="0"/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endswith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 )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：可以列出字串結束文字是否是特定子字串。</a:t>
            </a:r>
          </a:p>
          <a:p>
            <a:pPr lvl="0"/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replace(ch1,ch2)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：將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ch1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字串由另一字串取代。</a:t>
            </a: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4472C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4472C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ch6_37.py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：列出字串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”CIA”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是不是啟始或結束字串，以及出現次數。最後這個程式會將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Linda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字串用</a:t>
            </a: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Lxx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字串取代，這是一種保護情報員名字不外洩的方法。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34B406A-BB6E-9F49-7444-F7ADDE9F6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786" y="5046082"/>
            <a:ext cx="9696428" cy="133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07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7A7C73-3A3E-0B4F-A84E-4275D11DA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6-10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not in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運算式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A4E8BD-70FE-2B45-86BA-8051CE678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6200" indent="0" algn="just">
              <a:buNone/>
            </a:pPr>
            <a:r>
              <a:rPr lang="en-US" altLang="zh-TW" sz="28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boolean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= obj in A	</a:t>
            </a:r>
            <a:r>
              <a:rPr lang="en-US" altLang="zh-TW" sz="24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</a:t>
            </a:r>
            <a:r>
              <a:rPr lang="zh-TW" altLang="zh-TW" sz="24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物件</a:t>
            </a:r>
            <a:r>
              <a:rPr lang="en-US" altLang="zh-TW" sz="24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obj</a:t>
            </a:r>
            <a:r>
              <a:rPr lang="zh-TW" altLang="zh-TW" sz="24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在物件</a:t>
            </a:r>
            <a:r>
              <a:rPr lang="en-US" altLang="zh-TW" sz="24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</a:t>
            </a:r>
            <a:r>
              <a:rPr lang="zh-TW" altLang="zh-TW" sz="24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內會傳回</a:t>
            </a:r>
            <a:r>
              <a:rPr lang="en-US" altLang="zh-TW" sz="24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True</a:t>
            </a:r>
            <a:endParaRPr lang="zh-TW" altLang="zh-TW" sz="24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buNone/>
            </a:pPr>
            <a:r>
              <a:rPr lang="en-US" altLang="zh-TW" sz="28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boolean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= </a:t>
            </a:r>
            <a:r>
              <a:rPr lang="en-US" altLang="zh-TW" sz="28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obj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not in A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</a:t>
            </a:r>
            <a:r>
              <a:rPr lang="zh-TW" altLang="zh-TW" sz="24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物件</a:t>
            </a:r>
            <a:r>
              <a:rPr lang="en-US" altLang="zh-TW" sz="24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obj</a:t>
            </a:r>
            <a:r>
              <a:rPr lang="zh-TW" altLang="zh-TW" sz="24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不在物件</a:t>
            </a:r>
            <a:r>
              <a:rPr lang="en-US" altLang="zh-TW" sz="24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</a:t>
            </a:r>
            <a:r>
              <a:rPr lang="zh-TW" altLang="zh-TW" sz="24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內會傳回</a:t>
            </a:r>
            <a:r>
              <a:rPr lang="en-US" altLang="zh-TW" sz="24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True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ch6_38.py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：這個程式基本上會要求輸入一個水果，如果串列內目前沒有這個水果，就將輸入的水果加入串列內。</a:t>
            </a:r>
          </a:p>
          <a:p>
            <a:pPr algn="just">
              <a:spcAft>
                <a:spcPts val="0"/>
              </a:spcAft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453" y="4535060"/>
            <a:ext cx="4458322" cy="1695687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573" y="4544587"/>
            <a:ext cx="4496427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48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2D22A9-BD44-294D-8C0C-0AFEF50B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6-11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enumerate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物件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DEC66B-BBB7-7D46-AFA8-2E67097CC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obj = enumerate(</a:t>
            </a: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iterable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[, start = 0])</a:t>
            </a:r>
            <a:endParaRPr lang="en-US" altLang="zh-TW" sz="2800" kern="1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ch6_39.py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：將串列資料轉成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enumerate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物件，再將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enumerate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物件轉成串列的實例，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start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索引起始值分別為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和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0020221-BE02-E3F4-E130-7CF15F97F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632" y="5579831"/>
            <a:ext cx="8924735" cy="78279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198" y="3789255"/>
            <a:ext cx="7187684" cy="165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90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Yellow 16x9">
  <a:themeElements>
    <a:clrScheme name="Banded_Design_Yellow">
      <a:dk1>
        <a:srgbClr val="323232"/>
      </a:dk1>
      <a:lt1>
        <a:sysClr val="window" lastClr="FFFFFF"/>
      </a:lt1>
      <a:dk2>
        <a:srgbClr val="000000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Microsoft JhengHei UI">
      <a:majorFont>
        <a:latin typeface="Microsoft JhengHei UI"/>
        <a:ea typeface="Microsoft JhengHei UI"/>
        <a:cs typeface=""/>
      </a:majorFont>
      <a:minorFont>
        <a:latin typeface="Microsoft JhengHei UI"/>
        <a:ea typeface="Microsoft Jheng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_Design_Yellow_TP102900996" id="{AB4870CB-06BC-483D-898D-CB6E678212C7}" vid="{2ED2B3FE-BC13-4C0A-890E-57CB699DBA16}"/>
    </a:ext>
  </a:extLst>
</a:theme>
</file>

<file path=ppt/theme/theme2.xml><?xml version="1.0" encoding="utf-8"?>
<a:theme xmlns:a="http://schemas.openxmlformats.org/drawingml/2006/main" name="Office Theme">
  <a:themeElements>
    <a:clrScheme name="Banded_Design_Yellow">
      <a:dk1>
        <a:srgbClr val="595959"/>
      </a:dk1>
      <a:lt1>
        <a:sysClr val="window" lastClr="FFFFFF"/>
      </a:lt1>
      <a:dk2>
        <a:srgbClr val="323232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Yellow">
      <a:dk1>
        <a:srgbClr val="595959"/>
      </a:dk1>
      <a:lt1>
        <a:sysClr val="window" lastClr="FFFFFF"/>
      </a:lt1>
      <a:dk2>
        <a:srgbClr val="323232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866677B1-365E-411F-9971-C788BC2975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黃色橫紋設計簡報 (寬螢幕)</Template>
  <TotalTime>0</TotalTime>
  <Words>3004</Words>
  <Application>Microsoft Office PowerPoint</Application>
  <PresentationFormat>寬螢幕</PresentationFormat>
  <Paragraphs>225</Paragraphs>
  <Slides>69</Slides>
  <Notes>0</Notes>
  <HiddenSlides>27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69</vt:i4>
      </vt:variant>
    </vt:vector>
  </HeadingPairs>
  <TitlesOfParts>
    <vt:vector size="76" baseType="lpstr">
      <vt:lpstr>Microsoft JhengHei UI</vt:lpstr>
      <vt:lpstr>微軟正黑體</vt:lpstr>
      <vt:lpstr>Arial</vt:lpstr>
      <vt:lpstr>Book Antiqua</vt:lpstr>
      <vt:lpstr>Calibri</vt:lpstr>
      <vt:lpstr>Wingdings</vt:lpstr>
      <vt:lpstr>Banded Design Yellow 16x9</vt:lpstr>
      <vt:lpstr>串列</vt:lpstr>
      <vt:lpstr>6-1：認識串列(list)    </vt:lpstr>
      <vt:lpstr>6-1-1：串列基本定義</vt:lpstr>
      <vt:lpstr>串列範例</vt:lpstr>
      <vt:lpstr>PowerPoint 簡報</vt:lpstr>
      <vt:lpstr>6-1-2：讀取串列元素</vt:lpstr>
      <vt:lpstr>PowerPoint 簡報</vt:lpstr>
      <vt:lpstr>PowerPoint 簡報</vt:lpstr>
      <vt:lpstr>6-1-3：串列切片(list slices)</vt:lpstr>
      <vt:lpstr>PowerPoint 簡報</vt:lpstr>
      <vt:lpstr>PowerPoint 簡報</vt:lpstr>
      <vt:lpstr>PowerPoint 簡報</vt:lpstr>
      <vt:lpstr>6-1-4：串列統計資料函數</vt:lpstr>
      <vt:lpstr>PowerPoint 簡報</vt:lpstr>
      <vt:lpstr>PowerPoint 簡報</vt:lpstr>
      <vt:lpstr>6-1-5：更改串列元素的內容</vt:lpstr>
      <vt:lpstr>6-1-6：串列的相加</vt:lpstr>
      <vt:lpstr>PowerPoint 簡報</vt:lpstr>
      <vt:lpstr>6-1-7：串列乘以一個數字</vt:lpstr>
      <vt:lpstr>6-1-8：刪除串列元素與串列</vt:lpstr>
      <vt:lpstr>PowerPoint 簡報</vt:lpstr>
      <vt:lpstr>PowerPoint 簡報</vt:lpstr>
      <vt:lpstr>6-1-9：串列為空串列的判斷</vt:lpstr>
      <vt:lpstr>6-2：Python簡單的物件導向觀念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6-3：串列元素是字串的常用方法</vt:lpstr>
      <vt:lpstr>PowerPoint 簡報</vt:lpstr>
      <vt:lpstr>PowerPoint 簡報</vt:lpstr>
      <vt:lpstr>PowerPoint 簡報</vt:lpstr>
      <vt:lpstr>6-4：增加與刪除串列元素</vt:lpstr>
      <vt:lpstr>PowerPoint 簡報</vt:lpstr>
      <vt:lpstr>6-4-2：插入串列元素insert( )</vt:lpstr>
      <vt:lpstr>6-4-3：刪除串列元素pop( )</vt:lpstr>
      <vt:lpstr>6-4-4：刪除指定的元素remove( )</vt:lpstr>
      <vt:lpstr>6-5：串列的排序</vt:lpstr>
      <vt:lpstr>6-5-2：sort( )排序</vt:lpstr>
      <vt:lpstr>6-5-3：sorted( )排序</vt:lpstr>
      <vt:lpstr>PowerPoint 簡報</vt:lpstr>
      <vt:lpstr>6-6：進階串列操作</vt:lpstr>
      <vt:lpstr>PowerPoint 簡報</vt:lpstr>
      <vt:lpstr>6-6-2：count( )</vt:lpstr>
      <vt:lpstr>6-7：串列內含串列</vt:lpstr>
      <vt:lpstr>PowerPoint 簡報</vt:lpstr>
      <vt:lpstr>PowerPoint 簡報</vt:lpstr>
      <vt:lpstr>6-7-2：二維串列</vt:lpstr>
      <vt:lpstr>PowerPoint 簡報</vt:lpstr>
      <vt:lpstr>PowerPoint 簡報</vt:lpstr>
      <vt:lpstr>6-8：串列的賦值與切片拷貝</vt:lpstr>
      <vt:lpstr>6-8-2：串列的切片拷貝</vt:lpstr>
      <vt:lpstr>6-9：再談字串</vt:lpstr>
      <vt:lpstr>PowerPoint 簡報</vt:lpstr>
      <vt:lpstr>6-9-3：字串切片</vt:lpstr>
      <vt:lpstr>6-9-4：將字串轉成串列</vt:lpstr>
      <vt:lpstr>6-9-5：使用split( )分割字串</vt:lpstr>
      <vt:lpstr>6-9-6：串列元素的組合join( )</vt:lpstr>
      <vt:lpstr>PowerPoint 簡報</vt:lpstr>
      <vt:lpstr>PowerPoint 簡報</vt:lpstr>
      <vt:lpstr>PowerPoint 簡報</vt:lpstr>
      <vt:lpstr>6-9-8：字串的其它方法</vt:lpstr>
      <vt:lpstr>6-10：in和not in運算式</vt:lpstr>
      <vt:lpstr>6-11：enumerate物件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2021-08-20T14:38:34Z</dcterms:created>
  <dcterms:modified xsi:type="dcterms:W3CDTF">2024-11-14T06:27:54Z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TC029009979991</vt:lpwstr>
  </property>
</Properties>
</file>