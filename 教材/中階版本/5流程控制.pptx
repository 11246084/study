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31"/>
  </p:notesMasterIdLst>
  <p:handoutMasterIdLst>
    <p:handoutMasterId r:id="rId32"/>
  </p:handoutMasterIdLst>
  <p:sldIdLst>
    <p:sldId id="256" r:id="rId3"/>
    <p:sldId id="43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56" r:id="rId25"/>
    <p:sldId id="462" r:id="rId26"/>
    <p:sldId id="463" r:id="rId27"/>
    <p:sldId id="464" r:id="rId28"/>
    <p:sldId id="465" r:id="rId29"/>
    <p:sldId id="46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60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FD9D2DDA-69D8-473F-A583-B6774B31A77B}" type="datetimeFigureOut">
              <a:rPr lang="en-US" altLang="zh-TW"/>
              <a:t>10/2/2025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02392CCB-FF08-4D29-8DA3-E1FD86044808}" type="slidenum">
              <a:rPr lang="zh-TW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A01F6DFB-6833-46E4-B515-70E0D9178056}" type="datetimeFigureOut">
              <a:t>2025/10/2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958706C7-F2C3-48B6-8A22-C484D800B5D4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1905000"/>
            <a:ext cx="12188826" cy="32004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0" name="矩形 9"/>
          <p:cNvSpPr/>
          <p:nvPr/>
        </p:nvSpPr>
        <p:spPr>
          <a:xfrm>
            <a:off x="-2" y="1795132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1" name="矩形 10"/>
          <p:cNvSpPr/>
          <p:nvPr/>
        </p:nvSpPr>
        <p:spPr>
          <a:xfrm>
            <a:off x="-2" y="5142116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 latinLnBrk="0">
              <a:defRPr lang="zh-TW" sz="54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 latinLnBrk="0">
              <a:spcBef>
                <a:spcPts val="0"/>
              </a:spcBef>
              <a:buNone/>
              <a:defRPr lang="zh-TW" sz="2000"/>
            </a:lvl1pPr>
            <a:lvl2pPr marL="457200" indent="0" algn="ctr" latinLnBrk="0">
              <a:buNone/>
              <a:defRPr lang="zh-TW" sz="2800"/>
            </a:lvl2pPr>
            <a:lvl3pPr marL="914400" indent="0" algn="ctr" latinLnBrk="0">
              <a:buNone/>
              <a:defRPr lang="zh-TW" sz="2400"/>
            </a:lvl3pPr>
            <a:lvl4pPr marL="1371600" indent="0" algn="ctr" latinLnBrk="0">
              <a:buNone/>
              <a:defRPr lang="zh-TW" sz="2000"/>
            </a:lvl4pPr>
            <a:lvl5pPr marL="1828800" indent="0" algn="ctr" latinLnBrk="0">
              <a:buNone/>
              <a:defRPr lang="zh-TW" sz="2000"/>
            </a:lvl5pPr>
            <a:lvl6pPr marL="2286000" indent="0" algn="ctr" latinLnBrk="0">
              <a:buNone/>
              <a:defRPr lang="zh-TW" sz="2000"/>
            </a:lvl6pPr>
            <a:lvl7pPr marL="2743200" indent="0" algn="ctr" latinLnBrk="0">
              <a:buNone/>
              <a:defRPr lang="zh-TW" sz="2000"/>
            </a:lvl7pPr>
            <a:lvl8pPr marL="3200400" indent="0" algn="ctr" latinLnBrk="0">
              <a:buNone/>
              <a:defRPr lang="zh-TW" sz="2000"/>
            </a:lvl8pPr>
            <a:lvl9pPr marL="3657600" indent="0" algn="ctr" latinLnBrk="0">
              <a:buNone/>
              <a:defRPr lang="zh-TW" sz="2000"/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98575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  <a:lvl8pPr latinLnBrk="0">
              <a:defRPr lang="zh-TW"/>
            </a:lvl8pPr>
            <a:lvl9pPr latinLnBrk="0">
              <a:defRPr lang="zh-TW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1731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gradFill rotWithShape="1">
          <a:gsLst>
            <a:gs pos="100000">
              <a:schemeClr val="accent1">
                <a:alpha val="80000"/>
              </a:schemeClr>
            </a:gs>
            <a:gs pos="0">
              <a:schemeClr val="accent1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 latinLnBrk="0">
              <a:defRPr lang="zh-TW" sz="5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 latinLnBrk="0">
              <a:spcBef>
                <a:spcPts val="0"/>
              </a:spcBef>
              <a:buNone/>
              <a:defRPr lang="zh-TW"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6203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6763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/>
              <a:t>
            </a:t>
            </a:r>
            <a:fld id="{0B277187-C200-495F-A386-621319EADA8F}" type="datetimeFigureOut">
              <a:t>2025/10/2</a:t>
            </a:fld>
            <a:r>
              <a:rPr lang="zh-TW"/>
              <a:t>
            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/>
              <a:t>
            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/>
              <a:t>
            </a:t>
            </a:r>
            <a:fld id="{FC749032-2A07-4AE8-BA90-74324CAE0C87}" type="slidenum">
              <a:t>‹#›</a:t>
            </a:fld>
            <a:r>
              <a:rPr lang="zh-TW"/>
              <a:t>
            </a:t>
            </a:r>
          </a:p>
        </p:txBody>
      </p:sp>
    </p:spTree>
    <p:extLst>
      <p:ext uri="{BB962C8B-B14F-4D97-AF65-F5344CB8AC3E}">
        <p14:creationId xmlns:p14="http://schemas.microsoft.com/office/powerpoint/2010/main" val="325439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41291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矩形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7" name="矩形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29543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3937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 latinLnBrk="0">
              <a:buNone/>
              <a:defRPr lang="zh-TW" sz="20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019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73593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3050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9000"/>
              </a:schemeClr>
            </a:gs>
            <a:gs pos="40000">
              <a:schemeClr val="accent1">
                <a:lumMod val="20000"/>
                <a:lumOff val="80000"/>
                <a:alpha val="66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-1" y="6480048"/>
            <a:ext cx="12188827" cy="377952"/>
            <a:chOff x="-1" y="6480048"/>
            <a:chExt cx="12188827" cy="377952"/>
          </a:xfrm>
        </p:grpSpPr>
        <p:sp>
          <p:nvSpPr>
            <p:cNvPr id="7" name="矩形 6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0B277187-C200-495F-A386-621319EADA8F}" type="datetimeFigureOut">
              <a:pPr/>
              <a:t>2025/10/2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/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87002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lang="zh-TW"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▪"/>
        <a:defRPr lang="zh-TW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"/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kern="1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流程控制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國立臺北商業大學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資訊管理系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張隆君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D8035-421F-0747-9A88-AFCBCF5A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5-1</a:t>
            </a:r>
            <a:r>
              <a:rPr lang="zh-TW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：關係運算子</a:t>
            </a:r>
            <a:endParaRPr kumimoji="1"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AA2E797-86AB-5440-B0FB-4A05D2FD8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021" y="1978365"/>
            <a:ext cx="9849957" cy="3703977"/>
          </a:xfrm>
        </p:spPr>
      </p:pic>
    </p:spTree>
    <p:extLst>
      <p:ext uri="{BB962C8B-B14F-4D97-AF65-F5344CB8AC3E}">
        <p14:creationId xmlns:p14="http://schemas.microsoft.com/office/powerpoint/2010/main" val="2744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46B10F-25EC-DD8A-E8B4-384028BB9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4482"/>
            <a:ext cx="10515600" cy="5542481"/>
          </a:xfrm>
        </p:spPr>
        <p:txBody>
          <a:bodyPr>
            <a:normAutofit/>
          </a:bodyPr>
          <a:lstStyle/>
          <a:p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：下列會傳回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：下列會傳回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False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B0E579-C3F7-DAB6-23E7-95152BE5C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615" y="1617442"/>
            <a:ext cx="6053143" cy="92048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6EC837F-06B2-033F-335F-1D40ED4ED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615" y="4320074"/>
            <a:ext cx="5685098" cy="92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5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605F4-57E9-9146-B7BE-CBED905B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：邏輯運算子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64A35B-CB2B-FE4A-8E46-5C5F5619E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and	---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相當於邏輯符號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AND</a:t>
            </a: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zh-TW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zh-TW" altLang="en-US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BE1C153-68DD-6C4E-BD7B-1263B58147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47"/>
          <a:stretch/>
        </p:blipFill>
        <p:spPr>
          <a:xfrm>
            <a:off x="1727060" y="2533475"/>
            <a:ext cx="4049485" cy="2065272"/>
          </a:xfrm>
          <a:prstGeom prst="rect">
            <a:avLst/>
          </a:prstGeom>
        </p:spPr>
      </p:pic>
      <p:pic>
        <p:nvPicPr>
          <p:cNvPr id="6" name="圖片 5" descr="../../../../Downloads/p3.jpg">
            <a:extLst>
              <a:ext uri="{FF2B5EF4-FFF2-40B4-BE49-F238E27FC236}">
                <a16:creationId xmlns:a16="http://schemas.microsoft.com/office/drawing/2014/main" id="{40D5C38F-EDED-204A-9F12-A5088901ABC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92" y="2980199"/>
            <a:ext cx="3228840" cy="98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../../../../Downloads/p4.jpg">
            <a:extLst>
              <a:ext uri="{FF2B5EF4-FFF2-40B4-BE49-F238E27FC236}">
                <a16:creationId xmlns:a16="http://schemas.microsoft.com/office/drawing/2014/main" id="{EFCFCEDD-6342-D443-94B0-D61783599F3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906" y="4598747"/>
            <a:ext cx="3467101" cy="1940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713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E8FD21-7C93-D94C-A5D8-AC41ECB8F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100"/>
            <a:ext cx="10515600" cy="5376863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  ---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相當於邏輯符號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</a:t>
            </a: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AE57DA-0772-3C42-9CF0-F7977E568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943" y="1544721"/>
            <a:ext cx="3725636" cy="1943810"/>
          </a:xfrm>
          <a:prstGeom prst="rect">
            <a:avLst/>
          </a:prstGeom>
        </p:spPr>
      </p:pic>
      <p:pic>
        <p:nvPicPr>
          <p:cNvPr id="6" name="圖片 5" descr="../../../../Downloads/p5.jpg">
            <a:extLst>
              <a:ext uri="{FF2B5EF4-FFF2-40B4-BE49-F238E27FC236}">
                <a16:creationId xmlns:a16="http://schemas.microsoft.com/office/drawing/2014/main" id="{4D13ED5A-3BA0-CC41-A652-725B133ADD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78" y="3812044"/>
            <a:ext cx="3477985" cy="2426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../../../../Downloads/p6.jpg">
            <a:extLst>
              <a:ext uri="{FF2B5EF4-FFF2-40B4-BE49-F238E27FC236}">
                <a16:creationId xmlns:a16="http://schemas.microsoft.com/office/drawing/2014/main" id="{3C7A94AF-2391-CC4C-AB08-E0E294E1014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78" y="2468658"/>
            <a:ext cx="3477985" cy="1180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89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57846A-809F-FC45-AAFA-0F70F6AD8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not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---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相當於邏輯符號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NOT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61D045A-1168-994B-A9B7-B87DD95C7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354" y="1356403"/>
            <a:ext cx="4512438" cy="1599068"/>
          </a:xfrm>
          <a:prstGeom prst="rect">
            <a:avLst/>
          </a:prstGeom>
        </p:spPr>
      </p:pic>
      <p:pic>
        <p:nvPicPr>
          <p:cNvPr id="10" name="圖片 9" descr="../../../../Downloads/p7.jpg">
            <a:extLst>
              <a:ext uri="{FF2B5EF4-FFF2-40B4-BE49-F238E27FC236}">
                <a16:creationId xmlns:a16="http://schemas.microsoft.com/office/drawing/2014/main" id="{F7F0A3F2-EFA0-D744-BED7-6D09F93FA75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417" y="1846385"/>
            <a:ext cx="3653382" cy="160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圖片 10" descr="../../../../Downloads/p8.jpg">
            <a:extLst>
              <a:ext uri="{FF2B5EF4-FFF2-40B4-BE49-F238E27FC236}">
                <a16:creationId xmlns:a16="http://schemas.microsoft.com/office/drawing/2014/main" id="{C0EDD911-7A4B-2F42-A0F0-95324CA8954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417" y="3447710"/>
            <a:ext cx="3653382" cy="1548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201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BA585B-1750-DA40-B9AB-C9636394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敘述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32F64C-1E81-3D47-AB77-6C310B221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if  (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條件判斷</a:t>
            </a: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# 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條件判斷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外的小括號可有可無</a:t>
            </a: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程式碼區塊</a:t>
            </a: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800" dirty="0"/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if  (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條件判斷</a:t>
            </a:r>
            <a:r>
              <a:rPr lang="en-US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zh-TW" altLang="zh-TW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 </a:t>
            </a:r>
            <a:r>
              <a:rPr lang="zh-TW" altLang="zh-TW" sz="2800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程式碼區塊</a:t>
            </a:r>
            <a:endParaRPr lang="zh-TW" altLang="zh-TW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zh-TW" sz="2800" dirty="0"/>
          </a:p>
          <a:p>
            <a:pPr marL="0" indent="0">
              <a:buNone/>
            </a:pPr>
            <a:endParaRPr kumimoji="1"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1FBDE1-D14D-4624-EB8E-4C1AD33E5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25906"/>
            <a:ext cx="4673531" cy="33203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69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6341F7-1330-D544-B69B-64DC4A11A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7443"/>
            <a:ext cx="10515600" cy="5409520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ch5_1.py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敘述的基本應用。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ch5_2.py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：輸出絕對值的應用。</a:t>
            </a: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A647095-9C08-FE9A-FA83-C83FA5823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38" y="1669401"/>
            <a:ext cx="6034535" cy="109245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FB9C585-39BF-B199-E2AD-89350ED94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938" y="4534966"/>
            <a:ext cx="6034534" cy="105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C48ACD-DF4A-804A-81A8-9A2B1C05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 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else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敘述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973ED6-A49E-0D4A-B412-98F8DB480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  (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條件判斷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):				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1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else: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r>
              <a:rPr lang="zh-Hant" altLang="en-US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2</a:t>
            </a:r>
          </a:p>
          <a:p>
            <a:pPr marL="76200" indent="0" algn="just">
              <a:spcAft>
                <a:spcPts val="0"/>
              </a:spcAft>
              <a:buNone/>
            </a:pP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632120-607A-E081-5939-9FC94316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846" y="2377973"/>
            <a:ext cx="5702856" cy="317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8E1F26-4115-8B44-9FBF-339CC16EC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414"/>
            <a:ext cx="10515600" cy="5311549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ch5_3.py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：重新設計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ch5_1.py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，多了年齡滿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歲時的輸出。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A865E9C-1C04-8E71-720F-EE00DC529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675" y="2372179"/>
            <a:ext cx="6604650" cy="122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0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9768AD-CF2E-455F-5F28-54AEB780F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9837"/>
            <a:ext cx="10515600" cy="5617126"/>
          </a:xfrm>
        </p:spPr>
        <p:txBody>
          <a:bodyPr/>
          <a:lstStyle/>
          <a:p>
            <a:pPr marL="342900" lvl="0" indent="-342900">
              <a:buFont typeface="Wingdings" pitchFamily="2" charset="2"/>
              <a:buChar char=""/>
            </a:pPr>
            <a:r>
              <a:rPr lang="en-US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寫作風格</a:t>
            </a:r>
            <a:r>
              <a:rPr lang="en-US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(Python Enhancement Proposals) - PEP 8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風格建議不使用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 </a:t>
            </a:r>
            <a:r>
              <a:rPr lang="en-US" altLang="zh-TW" sz="2800" kern="100" dirty="0">
                <a:solidFill>
                  <a:srgbClr val="C4591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== </a:t>
            </a:r>
            <a:r>
              <a:rPr lang="en-US" altLang="zh-TW" sz="2800" kern="100" dirty="0">
                <a:solidFill>
                  <a:srgbClr val="C4591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判斷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False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，可以直接使用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 </a:t>
            </a:r>
            <a:r>
              <a:rPr lang="en-US" altLang="zh-TW" sz="2800" kern="100" dirty="0">
                <a:solidFill>
                  <a:srgbClr val="C4591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ch5_4.py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：奇數偶數的判斷，下列第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5-8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列是傳統用法，第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10-13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列是符合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PEP 8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用法，第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15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高手用法。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D3E24E0-CF84-ACA2-EDA1-3DADC44F2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168" y="3307751"/>
            <a:ext cx="7271994" cy="225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1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0F2C59-80B2-B2E9-499D-63D1CCAD5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159"/>
            <a:ext cx="10515600" cy="5579804"/>
          </a:xfrm>
        </p:spPr>
        <p:txBody>
          <a:bodyPr>
            <a:normAutofit/>
          </a:bodyPr>
          <a:lstStyle/>
          <a:p>
            <a:pPr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精神可以簡化上述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語法，例如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下列是求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x, 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之最大值或最小值。</a:t>
            </a:r>
          </a:p>
          <a:p>
            <a:pPr algn="just"/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max_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x if x &gt; y else y   		# 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x, 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最大值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min_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x if x &lt; y </a:t>
            </a:r>
            <a:r>
              <a:rPr lang="en-US" altLang="zh-TW" sz="2800" kern="10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else y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# 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x, 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</a:t>
            </a:r>
            <a:r>
              <a:rPr lang="zh-TW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最小值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是非常靈活的程式語言，上述也可以使用內建函數寫成下列方式：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max_</a:t>
            </a:r>
            <a:r>
              <a:rPr lang="en-US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max(x, y)	#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是內建函數，變數用後面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加底線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區隔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min_ 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= min(x, y)	#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min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是內建函數，變數用後面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加底線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區隔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註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內建函數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，當變數名稱與內建函數名稱相同時，可以在變數用後面加底線做區隔。</a:t>
            </a:r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279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6492D-4715-76BC-4EE3-AFE5812D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8498"/>
            <a:ext cx="10515600" cy="5598465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ch5_5.py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：請輸入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個數字，這個程式會用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精神語法，列出最大值與最小值。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601444A-92C8-C8AE-FB1A-66443A3B9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98" y="1976016"/>
            <a:ext cx="3504682" cy="229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7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97480-A275-834B-B210-EF68D6061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if 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elif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 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else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敘述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1AAE9AFE-E6EC-FAA5-0507-80761B3B3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261" y="1884119"/>
            <a:ext cx="7319477" cy="4423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557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F22D4D8-BE1B-4D5A-6BE1-509A04AB1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929" y="1073756"/>
            <a:ext cx="9420971" cy="5024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973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8D7519-4050-374A-A682-3CEA17553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ch5_6.py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：請輸入數字分數，程式將回應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等級。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4656521-D1BB-10A7-4E6F-E6A62FB3D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794" y="2222888"/>
            <a:ext cx="8978837" cy="14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4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E65386-4767-AF41-80D1-E006BE52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sz="4000" b="1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5-6</a:t>
            </a:r>
            <a:r>
              <a:rPr lang="zh-TW" altLang="zh-TW" sz="4000" b="1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：專題：</a:t>
            </a:r>
            <a:r>
              <a:rPr lang="en-US" altLang="zh-TW" sz="4000" b="1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BMI/</a:t>
            </a:r>
            <a:r>
              <a:rPr lang="zh-TW" altLang="zh-TW" sz="4000" b="1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猜數字</a:t>
            </a:r>
            <a:endParaRPr lang="zh-TW" altLang="zh-TW" sz="40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D02261-7E4F-0341-91B4-35C93F69F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5-6-1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：設計人體體重健康判斷程式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BMI(Body Mass Index)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指數又稱身高體重指數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也稱身體質量指數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1C3B26-5C47-C542-87D6-AEEA1B263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41" y="3590358"/>
            <a:ext cx="7202517" cy="28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F83C78-DDA5-D846-81F5-9B171C9E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ch5_7.py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：人體健康體重指數判斷程式，這個程式會要求輸入身高與體重，然後計算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BMI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指數，由這個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BMI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指數判斷體重是否正常。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DA17AD3-CE3D-29CF-B4E3-18B18816D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2596112"/>
            <a:ext cx="8065514" cy="136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F1A56D-CA8A-58C8-EFF6-B8CD79226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92"/>
            <a:ext cx="10515600" cy="5691771"/>
          </a:xfrm>
        </p:spPr>
        <p:txBody>
          <a:bodyPr>
            <a:normAutofit/>
          </a:bodyPr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5-6-2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：猜出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 ~ 7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之間的數字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ch5_8.py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：讀者心中先預想一個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0-7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之間的一個數字，這個專題會問讀者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個問題，請讀者真心回答，然後這個程式會回應讀者心中的數字。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55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3C62874-4C34-C7F2-C16C-79B236D36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396" y="1043602"/>
            <a:ext cx="7469819" cy="42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9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3103C9A-5749-DD4D-6511-491E51903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81" y="1429596"/>
            <a:ext cx="9418784" cy="2907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291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F1A56D-CA8A-58C8-EFF6-B8CD79226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92"/>
            <a:ext cx="10515600" cy="5691771"/>
          </a:xfrm>
        </p:spPr>
        <p:txBody>
          <a:bodyPr>
            <a:normAutofit/>
          </a:bodyPr>
          <a:lstStyle/>
          <a:p>
            <a:pPr algn="just"/>
            <a:r>
              <a:rPr lang="zh-TW" altLang="en-US" sz="2800" b="1" kern="100" dirty="0">
                <a:solidFill>
                  <a:srgbClr val="806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延伸題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：猜出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 ~ 63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之間的數字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讀者心中先預想一個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0-63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之間的一個數字，這個專題會問讀者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個問題，請讀者真心回答，然後這個程式會回應讀者心中的數字。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571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49033820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69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17258957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69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78308882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62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33200415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1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554002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6/6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12250908"/>
              </p:ext>
            </p:extLst>
          </p:nvPr>
        </p:nvGraphicFramePr>
        <p:xfrm>
          <a:off x="1825625" y="2116258"/>
          <a:ext cx="850424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55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56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57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62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5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63</a:t>
                      </a:r>
                      <a:endParaRPr lang="zh-TW" altLang="en-US" sz="5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0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Yellow 16x9">
  <a:themeElements>
    <a:clrScheme name="Banded_Design_Yellow">
      <a:dk1>
        <a:srgbClr val="323232"/>
      </a:dk1>
      <a:lt1>
        <a:sysClr val="window" lastClr="FFFFFF"/>
      </a:lt1>
      <a:dk2>
        <a:srgbClr val="000000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_Design_Yellow_TP102900996" id="{AB4870CB-06BC-483D-898D-CB6E678212C7}" vid="{2ED2B3FE-BC13-4C0A-890E-57CB699DBA16}"/>
    </a:ext>
  </a:extLst>
</a:theme>
</file>

<file path=ppt/theme/theme2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66677B1-365E-411F-9971-C788BC2975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黃色橫紋設計簡報 (寬螢幕)</Template>
  <TotalTime>0</TotalTime>
  <Words>796</Words>
  <Application>Microsoft Office PowerPoint</Application>
  <PresentationFormat>寬螢幕</PresentationFormat>
  <Paragraphs>274</Paragraphs>
  <Slides>28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5" baseType="lpstr">
      <vt:lpstr>Microsoft JhengHei UI</vt:lpstr>
      <vt:lpstr>微軟正黑體</vt:lpstr>
      <vt:lpstr>Arial</vt:lpstr>
      <vt:lpstr>Book Antiqua</vt:lpstr>
      <vt:lpstr>Calibri</vt:lpstr>
      <vt:lpstr>Wingdings</vt:lpstr>
      <vt:lpstr>Banded Design Yellow 16x9</vt:lpstr>
      <vt:lpstr>流程控制</vt:lpstr>
      <vt:lpstr>5-1：關係運算子</vt:lpstr>
      <vt:lpstr>PowerPoint 簡報</vt:lpstr>
      <vt:lpstr>5-2：邏輯運算子</vt:lpstr>
      <vt:lpstr>PowerPoint 簡報</vt:lpstr>
      <vt:lpstr>PowerPoint 簡報</vt:lpstr>
      <vt:lpstr>5-3：if敘述</vt:lpstr>
      <vt:lpstr>PowerPoint 簡報</vt:lpstr>
      <vt:lpstr>5-4：if … else敘述</vt:lpstr>
      <vt:lpstr>PowerPoint 簡報</vt:lpstr>
      <vt:lpstr>PowerPoint 簡報</vt:lpstr>
      <vt:lpstr>PowerPoint 簡報</vt:lpstr>
      <vt:lpstr>PowerPoint 簡報</vt:lpstr>
      <vt:lpstr>5-5：if … elif … else敘述</vt:lpstr>
      <vt:lpstr>PowerPoint 簡報</vt:lpstr>
      <vt:lpstr>PowerPoint 簡報</vt:lpstr>
      <vt:lpstr>5-6：專題：BMI/猜數字</vt:lpstr>
      <vt:lpstr>PowerPoint 簡報</vt:lpstr>
      <vt:lpstr>PowerPoint 簡報</vt:lpstr>
      <vt:lpstr>PowerPoint 簡報</vt:lpstr>
      <vt:lpstr>PowerPoint 簡報</vt:lpstr>
      <vt:lpstr>PowerPoint 簡報</vt:lpstr>
      <vt:lpstr>1/6</vt:lpstr>
      <vt:lpstr>2/6</vt:lpstr>
      <vt:lpstr>3/6</vt:lpstr>
      <vt:lpstr>4/6</vt:lpstr>
      <vt:lpstr>5/6</vt:lpstr>
      <vt:lpstr>6/6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2021-08-20T14:38:34Z</dcterms:created>
  <dcterms:modified xsi:type="dcterms:W3CDTF">2025-10-02T01:59:37Z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TC029009979991</vt:lpwstr>
  </property>
</Properties>
</file>